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0e417df8a74186" /><Relationship Type="http://schemas.openxmlformats.org/officeDocument/2006/relationships/extended-properties" Target="/docProps/app.xml" Id="R4267e22a71ba40b9" /><Relationship Type="http://schemas.openxmlformats.org/officeDocument/2006/relationships/officeDocument" Target="/ppt/presentation.xml" Id="Rc607822fbdc44d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cfc9bc1a934c02"/>
  </p:sldMasterIdLst>
  <p:notesMasterIdLst>
    <p:notesMasterId xmlns:r="http://schemas.openxmlformats.org/officeDocument/2006/relationships" r:id="Rbd45163dea9c47c9"/>
  </p:notesMasterIdLst>
  <p:sldIdLst>
    <p:sldId xmlns:r="http://schemas.openxmlformats.org/officeDocument/2006/relationships" id="256" r:id="R9f317ddf947c4636"/>
    <p:sldId xmlns:r="http://schemas.openxmlformats.org/officeDocument/2006/relationships" id="257" r:id="R94f56a4273a143c7"/>
    <p:sldId xmlns:r="http://schemas.openxmlformats.org/officeDocument/2006/relationships" id="258" r:id="R677f336a2ecf43cf"/>
    <p:sldId xmlns:r="http://schemas.openxmlformats.org/officeDocument/2006/relationships" id="259" r:id="Rdb23aa6eaa414cd5"/>
    <p:sldId xmlns:r="http://schemas.openxmlformats.org/officeDocument/2006/relationships" id="260" r:id="R3e0a9b13176949bc"/>
    <p:sldId xmlns:r="http://schemas.openxmlformats.org/officeDocument/2006/relationships" id="261" r:id="R12259a1768ee437a"/>
    <p:sldId xmlns:r="http://schemas.openxmlformats.org/officeDocument/2006/relationships" id="262" r:id="R282bf8dfe283419a"/>
    <p:sldId xmlns:r="http://schemas.openxmlformats.org/officeDocument/2006/relationships" id="263" r:id="R2b8b1cfa8eaf4b0c"/>
    <p:sldId xmlns:r="http://schemas.openxmlformats.org/officeDocument/2006/relationships" id="264" r:id="Rb3f8f93e369e4655"/>
    <p:sldId xmlns:r="http://schemas.openxmlformats.org/officeDocument/2006/relationships" id="265" r:id="R325f50cdd3b341ae"/>
    <p:sldId xmlns:r="http://schemas.openxmlformats.org/officeDocument/2006/relationships" id="266" r:id="Re5f8f4be31ee4ae6"/>
    <p:sldId xmlns:r="http://schemas.openxmlformats.org/officeDocument/2006/relationships" id="267" r:id="R467f38b0fd7c4302"/>
    <p:sldId xmlns:r="http://schemas.openxmlformats.org/officeDocument/2006/relationships" id="268" r:id="R73283d19044b4fb6"/>
    <p:sldId xmlns:r="http://schemas.openxmlformats.org/officeDocument/2006/relationships" id="269" r:id="R644813dac7814e86"/>
    <p:sldId xmlns:r="http://schemas.openxmlformats.org/officeDocument/2006/relationships" id="270" r:id="Rfec46f7955534254"/>
    <p:sldId xmlns:r="http://schemas.openxmlformats.org/officeDocument/2006/relationships" id="271" r:id="Rbf9ebc47d4e44eb3"/>
    <p:sldId xmlns:r="http://schemas.openxmlformats.org/officeDocument/2006/relationships" id="272" r:id="Rffb57cfde86443ad"/>
    <p:sldId xmlns:r="http://schemas.openxmlformats.org/officeDocument/2006/relationships" id="273" r:id="Rb245906eadca498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d191669e7f4e8c" /><Relationship Type="http://schemas.openxmlformats.org/officeDocument/2006/relationships/slideMaster" Target="/ppt/slideMasters/slideMaster1.xml" Id="Ra9cfc9bc1a934c02" /><Relationship Type="http://schemas.openxmlformats.org/officeDocument/2006/relationships/notesMaster" Target="/ppt/notesMasters/notesMaster1.xml" Id="Rbd45163dea9c47c9" /><Relationship Type="http://schemas.openxmlformats.org/officeDocument/2006/relationships/presProps" Target="/ppt/presProps.xml" Id="R7c9402533c5844c5" /><Relationship Type="http://schemas.openxmlformats.org/officeDocument/2006/relationships/tableStyles" Target="/ppt/tableStyles.xml" Id="R4a21ab38d67d415f" /><Relationship Type="http://schemas.openxmlformats.org/officeDocument/2006/relationships/slide" Target="/ppt/slides/slide1.xml" Id="R9f317ddf947c4636" /><Relationship Type="http://schemas.openxmlformats.org/officeDocument/2006/relationships/slide" Target="/ppt/slides/slide2.xml" Id="R94f56a4273a143c7" /><Relationship Type="http://schemas.openxmlformats.org/officeDocument/2006/relationships/slide" Target="/ppt/slides/slide3.xml" Id="R677f336a2ecf43cf" /><Relationship Type="http://schemas.openxmlformats.org/officeDocument/2006/relationships/slide" Target="/ppt/slides/slide4.xml" Id="Rdb23aa6eaa414cd5" /><Relationship Type="http://schemas.openxmlformats.org/officeDocument/2006/relationships/slide" Target="/ppt/slides/slide5.xml" Id="R3e0a9b13176949bc" /><Relationship Type="http://schemas.openxmlformats.org/officeDocument/2006/relationships/slide" Target="/ppt/slides/slide6.xml" Id="R12259a1768ee437a" /><Relationship Type="http://schemas.openxmlformats.org/officeDocument/2006/relationships/slide" Target="/ppt/slides/slide7.xml" Id="R282bf8dfe283419a" /><Relationship Type="http://schemas.openxmlformats.org/officeDocument/2006/relationships/slide" Target="/ppt/slides/slide8.xml" Id="R2b8b1cfa8eaf4b0c" /><Relationship Type="http://schemas.openxmlformats.org/officeDocument/2006/relationships/slide" Target="/ppt/slides/slide9.xml" Id="Rb3f8f93e369e4655" /><Relationship Type="http://schemas.openxmlformats.org/officeDocument/2006/relationships/slide" Target="/ppt/slides/slide10.xml" Id="R325f50cdd3b341ae" /><Relationship Type="http://schemas.openxmlformats.org/officeDocument/2006/relationships/slide" Target="/ppt/slides/slide11.xml" Id="Re5f8f4be31ee4ae6" /><Relationship Type="http://schemas.openxmlformats.org/officeDocument/2006/relationships/slide" Target="/ppt/slides/slide12.xml" Id="R467f38b0fd7c4302" /><Relationship Type="http://schemas.openxmlformats.org/officeDocument/2006/relationships/slide" Target="/ppt/slides/slide13.xml" Id="R73283d19044b4fb6" /><Relationship Type="http://schemas.openxmlformats.org/officeDocument/2006/relationships/slide" Target="/ppt/slides/slide14.xml" Id="R644813dac7814e86" /><Relationship Type="http://schemas.openxmlformats.org/officeDocument/2006/relationships/slide" Target="/ppt/slides/slide15.xml" Id="Rfec46f7955534254" /><Relationship Type="http://schemas.openxmlformats.org/officeDocument/2006/relationships/slide" Target="/ppt/slides/slide16.xml" Id="Rbf9ebc47d4e44eb3" /><Relationship Type="http://schemas.openxmlformats.org/officeDocument/2006/relationships/slide" Target="/ppt/slides/slide17.xml" Id="Rffb57cfde86443ad" /><Relationship Type="http://schemas.openxmlformats.org/officeDocument/2006/relationships/slide" Target="/ppt/slides/slide18.xml" Id="Rb245906eadca49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2a96f8dab04d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533864465f4f17" /><Relationship Type="http://schemas.openxmlformats.org/officeDocument/2006/relationships/notesMaster" Target="/ppt/notesMasters/notesMaster1.xml" Id="Rb5bdc7efa6c44e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7b04db96a14e1b" /><Relationship Type="http://schemas.openxmlformats.org/officeDocument/2006/relationships/notesMaster" Target="/ppt/notesMasters/notesMaster1.xml" Id="R16471d44719a48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9643fc815346a5" /><Relationship Type="http://schemas.openxmlformats.org/officeDocument/2006/relationships/notesMaster" Target="/ppt/notesMasters/notesMaster1.xml" Id="R56558b830dd142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c6b476678a45e3" /><Relationship Type="http://schemas.openxmlformats.org/officeDocument/2006/relationships/notesMaster" Target="/ppt/notesMasters/notesMaster1.xml" Id="R2d4406d319c74a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8e2986e1d74b21" /><Relationship Type="http://schemas.openxmlformats.org/officeDocument/2006/relationships/notesMaster" Target="/ppt/notesMasters/notesMaster1.xml" Id="R78d3064c614946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fd3fb3c6cb4b24" /><Relationship Type="http://schemas.openxmlformats.org/officeDocument/2006/relationships/notesMaster" Target="/ppt/notesMasters/notesMaster1.xml" Id="R2b784eee861e41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0de58708884fb0" /><Relationship Type="http://schemas.openxmlformats.org/officeDocument/2006/relationships/notesMaster" Target="/ppt/notesMasters/notesMaster1.xml" Id="R62d57d4487734e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fc79b0ed844af0" /><Relationship Type="http://schemas.openxmlformats.org/officeDocument/2006/relationships/notesMaster" Target="/ppt/notesMasters/notesMaster1.xml" Id="Rf5f014cebbe34b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f18738bb8e421a" /><Relationship Type="http://schemas.openxmlformats.org/officeDocument/2006/relationships/notesMaster" Target="/ppt/notesMasters/notesMaster1.xml" Id="R16fe76f3b6dd44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4cb7d085904df2" /><Relationship Type="http://schemas.openxmlformats.org/officeDocument/2006/relationships/notesMaster" Target="/ppt/notesMasters/notesMaster1.xml" Id="R5c2ffc92d71d4b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b99bf35b274fb1" /><Relationship Type="http://schemas.openxmlformats.org/officeDocument/2006/relationships/notesMaster" Target="/ppt/notesMasters/notesMaster1.xml" Id="R8aa63c88b07946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61470b2ac4419e" /><Relationship Type="http://schemas.openxmlformats.org/officeDocument/2006/relationships/notesMaster" Target="/ppt/notesMasters/notesMaster1.xml" Id="R5c6fe0e83b804f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1057d62fda4f89" /><Relationship Type="http://schemas.openxmlformats.org/officeDocument/2006/relationships/notesMaster" Target="/ppt/notesMasters/notesMaster1.xml" Id="R4ecd1a31187f4d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b6c3c1e425f4336" /><Relationship Type="http://schemas.openxmlformats.org/officeDocument/2006/relationships/notesMaster" Target="/ppt/notesMasters/notesMaster1.xml" Id="R07368601a8a640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c45e6cb66e4b62" /><Relationship Type="http://schemas.openxmlformats.org/officeDocument/2006/relationships/notesMaster" Target="/ppt/notesMasters/notesMaster1.xml" Id="R6564c6198ce243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3befba2ebd4a9b" /><Relationship Type="http://schemas.openxmlformats.org/officeDocument/2006/relationships/notesMaster" Target="/ppt/notesMasters/notesMaster1.xml" Id="R41494116f0b4489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d95f73c32e44088" /><Relationship Type="http://schemas.openxmlformats.org/officeDocument/2006/relationships/notesMaster" Target="/ppt/notesMasters/notesMaster1.xml" Id="R419fb363cd374fd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6ef36473db04fea" /><Relationship Type="http://schemas.openxmlformats.org/officeDocument/2006/relationships/notesMaster" Target="/ppt/notesMasters/notesMaster1.xml" Id="R61e9314dfaa24d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5bc8c5e78e4d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64e6727e5f4981" /><Relationship Type="http://schemas.openxmlformats.org/officeDocument/2006/relationships/slideLayout" Target="/ppt/slideLayouts/slideLayout1.xml" Id="Rc5fc15b3861b4e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fc15b3861b4e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c018ee9574165" /><Relationship Type="http://schemas.openxmlformats.org/officeDocument/2006/relationships/notesSlide" Target="/ppt/notesSlides/notesSlide1.xml" Id="R46aaeb900a504b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5daa15b4c4474" /><Relationship Type="http://schemas.openxmlformats.org/officeDocument/2006/relationships/notesSlide" Target="/ppt/notesSlides/notesSlide2.xml" Id="R5a4b811c18764a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6614d657d4eba" /><Relationship Type="http://schemas.openxmlformats.org/officeDocument/2006/relationships/notesSlide" Target="/ppt/notesSlides/notesSlide3.xml" Id="Rd24176b53b3040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0554aaf38421b" /><Relationship Type="http://schemas.openxmlformats.org/officeDocument/2006/relationships/notesSlide" Target="/ppt/notesSlides/notesSlide4.xml" Id="R2dd31059c7f945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e5b33d73b4eef" /><Relationship Type="http://schemas.openxmlformats.org/officeDocument/2006/relationships/image" Target="/ppt/media/image.jpeg" Id="Re6755b1c33d040b7" /><Relationship Type="http://schemas.openxmlformats.org/officeDocument/2006/relationships/notesSlide" Target="/ppt/notesSlides/notesSlide5.xml" Id="Rdc3d9a6642d041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99161cbd24185" /><Relationship Type="http://schemas.openxmlformats.org/officeDocument/2006/relationships/notesSlide" Target="/ppt/notesSlides/notesSlide6.xml" Id="Rb44c4dbf96274e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149631c614038" /><Relationship Type="http://schemas.openxmlformats.org/officeDocument/2006/relationships/image" Target="/ppt/media/image2.jpeg" Id="R42a377e5b1bf4e35" /><Relationship Type="http://schemas.openxmlformats.org/officeDocument/2006/relationships/notesSlide" Target="/ppt/notesSlides/notesSlide7.xml" Id="Ra1753286ca3543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3ac6528d24628" /><Relationship Type="http://schemas.openxmlformats.org/officeDocument/2006/relationships/image" Target="/ppt/media/image3.jpeg" Id="Rcf192708230a433d" /><Relationship Type="http://schemas.openxmlformats.org/officeDocument/2006/relationships/notesSlide" Target="/ppt/notesSlides/notesSlide8.xml" Id="R59849355343d4e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c551b1f524119" /><Relationship Type="http://schemas.openxmlformats.org/officeDocument/2006/relationships/image" Target="/ppt/media/image4.jpeg" Id="R5bc4b66f75674cc2" /><Relationship Type="http://schemas.openxmlformats.org/officeDocument/2006/relationships/notesSlide" Target="/ppt/notesSlides/notesSlide9.xml" Id="Rd5f6660ad0fb4d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a9af5f9c84066" /><Relationship Type="http://schemas.openxmlformats.org/officeDocument/2006/relationships/image" Target="/ppt/media/image5.jpeg" Id="Re62f923542b5446f" /><Relationship Type="http://schemas.openxmlformats.org/officeDocument/2006/relationships/notesSlide" Target="/ppt/notesSlides/notesSlide10.xml" Id="R32cefde7f51143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e1de75d504010" /><Relationship Type="http://schemas.openxmlformats.org/officeDocument/2006/relationships/image" Target="/ppt/media/image6.jpeg" Id="Ree5ef909b0204721" /><Relationship Type="http://schemas.openxmlformats.org/officeDocument/2006/relationships/notesSlide" Target="/ppt/notesSlides/notesSlide11.xml" Id="R3f43fe87108442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628cb336441a5" /><Relationship Type="http://schemas.openxmlformats.org/officeDocument/2006/relationships/notesSlide" Target="/ppt/notesSlides/notesSlide12.xml" Id="R97b86fbc9f1c43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5f38ea15644c2" /><Relationship Type="http://schemas.openxmlformats.org/officeDocument/2006/relationships/notesSlide" Target="/ppt/notesSlides/notesSlide13.xml" Id="R22f153c254ec4e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91d75effe4e24" /><Relationship Type="http://schemas.openxmlformats.org/officeDocument/2006/relationships/notesSlide" Target="/ppt/notesSlides/notesSlide14.xml" Id="Rb788223ec45a4f6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36a820cd84f36" /><Relationship Type="http://schemas.openxmlformats.org/officeDocument/2006/relationships/notesSlide" Target="/ppt/notesSlides/notesSlide15.xml" Id="R8ea625bdc11844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f4c11f93f4483" /><Relationship Type="http://schemas.openxmlformats.org/officeDocument/2006/relationships/notesSlide" Target="/ppt/notesSlides/notesSlide16.xml" Id="R318b43683739486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f1d1ea0a34016" /><Relationship Type="http://schemas.openxmlformats.org/officeDocument/2006/relationships/notesSlide" Target="/ppt/notesSlides/notesSlide17.xml" Id="R0f6a55269de2486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3490cedbb4836" /><Relationship Type="http://schemas.openxmlformats.org/officeDocument/2006/relationships/notesSlide" Target="/ppt/notesSlides/notesSlide18.xml" Id="Rdf43613e2f324f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0FD91-E05D-404A-A7AC-CB843A71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SmartRisk CZ5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D9CFC-93DF-4017-8431-FD0E3009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1726"/>
                </a:solidFill>
              </a:defRPr>
            </a:pPr>
            <a:r>
              <a:rPr sz="4050" b="1">
                <a:solidFill>
                  <a:srgbClr val="0B1726"/>
                </a:solidFill>
              </a:rPr>
              <a:t>Gestionar el riesgo</a:t>
            </a:r>
          </a:p>
          <a:p xmlns:a="http://schemas.openxmlformats.org/drawingml/2006/main">
            <a:pPr algn="l">
              <a:defRPr sz="4050" b="1">
                <a:solidFill>
                  <a:srgbClr val="0B1726"/>
                </a:solidFill>
              </a:defRPr>
            </a:pPr>
            <a:r>
              <a:rPr sz="4050" b="1">
                <a:solidFill>
                  <a:srgbClr val="0B1726"/>
                </a:solidFill>
              </a:rPr>
              <a:t>como un flujo común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045B6-FF18-45FC-92CF-7AB62DC6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81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77A"/>
                </a:solidFill>
              </a:defRPr>
            </a:pPr>
            <a:r>
              <a:rPr sz="1800" b="0">
                <a:solidFill>
                  <a:srgbClr val="58677A"/>
                </a:solidFill>
              </a:rPr>
              <a:t>Guía detallada para técnicos, responsables institucionales, analistas y participantes del COE.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343C0-63F9-41AE-9506-F853DFAC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B"/>
          </a:solidFill>
          <a:ln xmlns:a="http://schemas.openxmlformats.org/drawingml/2006/main" w="9525">
            <a:solidFill>
              <a:srgbClr val="102C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8C107-05E1-40B3-AD87-E4DCFC63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38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CBF4"/>
                </a:solidFill>
              </a:defRPr>
            </a:pPr>
            <a:r>
              <a:rPr sz="1650" b="1">
                <a:solidFill>
                  <a:srgbClr val="6DCBF4"/>
                </a:solidFill>
              </a:rPr>
              <a:t>PLANES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02DC5-A8FF-45C1-9518-625BD2C6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0C956-6379-4425-8282-F3BC19B3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907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RIESGO TERRITORIAL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EECB6-9352-47F6-A1CD-F014657C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6700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78D79-1476-4E12-8D37-7F0E92B7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432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DECISIONES Y ACCIONES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213EE-DCD5-49E2-A55B-0AD00AB2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1950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6FD7E-E026-413A-9F66-BAF2D2B6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957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CBF4"/>
                </a:solidFill>
              </a:defRPr>
            </a:pPr>
            <a:r>
              <a:rPr sz="1650" b="1">
                <a:solidFill>
                  <a:srgbClr val="6DCBF4"/>
                </a:solidFill>
              </a:rPr>
              <a:t>EVIDENCIA Y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9F9DE-FC02-46B6-9E9A-96613822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77A"/>
                </a:solidFill>
              </a:defRPr>
            </a:pPr>
            <a:r>
              <a:rPr sz="1050" b="0">
                <a:solidFill>
                  <a:srgbClr val="58677A"/>
                </a:solidFill>
              </a:rPr>
              <a:t>Coordinación Zonal 5 · 2026</a:t>
            </a:r>
          </a:p>
        </p:txBody>
      </p:sp>
    </p:spTree>
    <p:extLst>
      <p:ext uri="{BB962C8B-B14F-4D97-AF65-F5344CB8AC3E}">
        <p14:creationId xmlns:p14="http://schemas.microsoft.com/office/powerpoint/2010/main" val="13124261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A96BD8-7928-4A08-A86D-EA2905E4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PROPÓSITO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6A010-2EA4-446E-B878-095E0539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La plataforma convierte documentos dispersos en gestión verificable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3D847-DC30-41EC-81EB-BE8F4D75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12D10-3AB4-436C-B997-8ABB365A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81562-6A92-46F0-9F27-83D20DA4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763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726"/>
                </a:solidFill>
              </a:defRPr>
            </a:pPr>
            <a:r>
              <a:rPr sz="1875" b="1">
                <a:solidFill>
                  <a:srgbClr val="0B1726"/>
                </a:solidFill>
              </a:rPr>
              <a:t>El valor no está en registrar más datos, sino en conectar cada hallazgo con una decisión, un responsable y una evidencia.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70DFE-2500-4D0A-879E-4AF37CEE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9BA6E-B70E-478C-890D-3258DE69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8677A"/>
                </a:solidFill>
              </a:defRPr>
            </a:pPr>
            <a:r>
              <a:rPr sz="1125" b="1">
                <a:solidFill>
                  <a:srgbClr val="58677A"/>
                </a:solidFill>
              </a:rPr>
              <a:t>ANTES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3CC01-DC2D-4D9B-92E3-E8D396B6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26"/>
                </a:solidFill>
              </a:defRPr>
            </a:pPr>
            <a:r>
              <a:rPr sz="1650" b="1">
                <a:solidFill>
                  <a:srgbClr val="0B1726"/>
                </a:solidFill>
              </a:rPr>
              <a:t>Planes, correos, mapas y compromisos separados.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1E1BC-7519-4662-B951-5A2F902E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77A"/>
                </a:solidFill>
              </a:defRPr>
            </a:pPr>
            <a:r>
              <a:rPr sz="1275" b="0">
                <a:solidFill>
                  <a:srgbClr val="58677A"/>
                </a:solidFill>
              </a:rPr>
              <a:t>La misma brecha podía revisarse varias veces sin convertirse en acción.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969B6-4462-425A-8C85-2295FD3F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7650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93EB5-1622-4DB4-8086-0BF189A2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67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CON SMARTRISK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AC78E-65B6-4C1C-B54A-75A459B5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26"/>
                </a:solidFill>
              </a:defRPr>
            </a:pPr>
            <a:r>
              <a:rPr sz="1650" b="1">
                <a:solidFill>
                  <a:srgbClr val="0B1726"/>
                </a:solidFill>
              </a:rPr>
              <a:t>Una fuente común conserva territorio, evidencia, responsable, plazo y estado.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3FA77-1912-488C-92E0-20BEE874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4337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77A"/>
                </a:solidFill>
              </a:defRPr>
            </a:pPr>
            <a:r>
              <a:rPr sz="1275" b="0">
                <a:solidFill>
                  <a:srgbClr val="58677A"/>
                </a:solidFill>
              </a:rPr>
              <a:t>Cada técnico sabe qué debe completar y el control puede seguir el resultado.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E9893-D58A-4429-AB66-5A9D93CA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7650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3230D-B975-4F96-9F17-897DFC06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8677A"/>
                </a:solidFill>
              </a:defRPr>
            </a:pPr>
            <a:r>
              <a:rPr sz="1125" b="1">
                <a:solidFill>
                  <a:srgbClr val="58677A"/>
                </a:solidFill>
              </a:rPr>
              <a:t>RESULTADO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3B1D6-F173-477C-84FF-C3CA105D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26"/>
                </a:solidFill>
              </a:defRPr>
            </a:pPr>
            <a:r>
              <a:rPr sz="1650" b="1">
                <a:solidFill>
                  <a:srgbClr val="0B1726"/>
                </a:solidFill>
              </a:rPr>
              <a:t>El riesgo fluye desde el territorio hacia quien decide y vuelve como una acción controlable.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ABBADA-5A5C-4E61-92B5-6E4D243C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4337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77A"/>
                </a:solidFill>
              </a:defRPr>
            </a:pPr>
            <a:r>
              <a:rPr sz="1275" b="0">
                <a:solidFill>
                  <a:srgbClr val="58677A"/>
                </a:solidFill>
              </a:rPr>
              <a:t>La trazabilidad permite explicar qué se hizo, qué falta y por qué.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C9E517-ED58-4886-BBB3-44777281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5689030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611185-EF77-407F-8544-FEED9D59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ARQUITECTURA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03F7C-E721-4CA0-893C-4BE4C203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Un solo flujo conecta ocho módulos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42CDD-DD6C-42B7-AF50-4A7AD293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057C5-7ECF-44B2-A329-02974017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817A2-BF64-4B7A-8B63-566A9B69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9F19D-D459-4129-9ED2-E299B5CF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3A845-426B-45DC-8912-93679584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Territorios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6F92F-F1C2-497B-AE46-F2EEAB1E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94DFE-3424-44F8-BFC6-775071E3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57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E2913-BD45-477E-97E3-8DDB038B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717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Actores y flujo COE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1DB7C-2B3E-42AC-8727-EA5C0895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145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ED8E6-73A7-4711-9E71-1C30BA6C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57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BE806-B7D0-45C7-8192-1ED620D4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Revisión de planes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95137-302A-49B7-88D5-94191C37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145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8017E-6191-417E-AEA0-0B252183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57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46912B-7BDB-4C05-8FDD-886EA84A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717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Sitios críticos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BA2045-6BBA-40F3-95CE-8BA63DD3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3407A4-C1BA-4D2F-AC6F-AA96372D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C0ACD1-0303-49F5-AD4F-56F73979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Decisiones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F984A6-6597-43D9-9088-21F9AFE8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9AA15C-BE4C-403F-86B3-1F9238BD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67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490CB4-459D-417E-BE7A-95A7C910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814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Acciones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A6C092-12CA-47C8-B296-A6C13F67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2425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4986D7-3C71-46ED-A30E-3CFF616C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67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848CBA-1C68-4137-83B2-99CF678F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814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Herramientas SIG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8FBCDB-098B-477E-BA4F-9159B7EF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2425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17B27A-F169-48F4-ACE8-541A4D6E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67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613786-AB29-4B16-919A-DDB3759D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814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Cabina COE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BD6447-F154-4AC5-AD44-3DC76AE8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388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8A61"/>
                </a:solidFill>
              </a:defRPr>
            </a:pPr>
            <a:r>
              <a:rPr sz="1650" b="1">
                <a:solidFill>
                  <a:srgbClr val="0D8A61"/>
                </a:solidFill>
              </a:rPr>
              <a:t>La información debe avanzar; no se vuelve a escribir desde cero en cada módulo.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75D97F-0017-4B5A-B1BD-B2324100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60351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C3428D-1BE2-4790-BD19-DE18EA19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PERFILES Y RESPONSABILIDADES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7B640-5B9B-4EDE-911B-E453B53C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Cada perfil ve una parte del proceso, pero todos alimentan la misma trazabilidad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871B6-1A7F-4B92-95FC-5B0DD1E9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3FB1E-6AEF-4667-B92B-D7C27C5A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F7890-4D48-4F81-9102-AD9BF895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6"/>
                </a:solidFill>
              </a:defRPr>
            </a:pPr>
            <a:r>
              <a:rPr sz="1350" b="1">
                <a:solidFill>
                  <a:srgbClr val="0B1726"/>
                </a:solidFill>
              </a:rPr>
              <a:t>Administrador zonal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5C3A5-B540-440E-9FC6-8DCA8AB7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466850"/>
            <a:ext cx="528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Configura usuarios, territorios y actores; supervisa cobertura y decisiones.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FF08C-A6DE-49D1-9693-9A7EAC24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668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77A"/>
                </a:solidFill>
              </a:defRPr>
            </a:pPr>
            <a:r>
              <a:rPr sz="1125" b="0">
                <a:solidFill>
                  <a:srgbClr val="58677A"/>
                </a:solidFill>
              </a:rPr>
              <a:t>No sustituye la validación técnica local.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1E867-04C6-48B1-BC8E-E918AE73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B4049-009B-4A84-9F46-00E09450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288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6"/>
                </a:solidFill>
              </a:defRPr>
            </a:pPr>
            <a:r>
              <a:rPr sz="1350" b="1">
                <a:solidFill>
                  <a:srgbClr val="0B1726"/>
                </a:solidFill>
              </a:rPr>
              <a:t>Técnico territorial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764D1-7ACA-49F9-A00C-46C2A5A8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28850"/>
            <a:ext cx="528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Completa fichas, valida lugares, actualiza acciones y carga evidencia.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1B862-1B4B-40E1-AA59-F7554CFD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288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77A"/>
                </a:solidFill>
              </a:defRPr>
            </a:pPr>
            <a:r>
              <a:rPr sz="1125" b="0">
                <a:solidFill>
                  <a:srgbClr val="58677A"/>
                </a:solidFill>
              </a:rPr>
              <a:t>Responde por la calidad y actualidad del dato.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54C57-B7D1-4739-A175-B8D8B62D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55AA3-7570-4794-9564-8F88D622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6"/>
                </a:solidFill>
              </a:defRPr>
            </a:pPr>
            <a:r>
              <a:rPr sz="1350" b="1">
                <a:solidFill>
                  <a:srgbClr val="0B1726"/>
                </a:solidFill>
              </a:rPr>
              <a:t>Revisor de planes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3451A-3D0A-4931-8703-6DC465BA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90850"/>
            <a:ext cx="528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Contrasta estructura, operación, evidencia y propuestas de cada plan.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F658F-1CF5-448D-8062-F5B62897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908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77A"/>
                </a:solidFill>
              </a:defRPr>
            </a:pPr>
            <a:r>
              <a:rPr sz="1125" b="0">
                <a:solidFill>
                  <a:srgbClr val="58677A"/>
                </a:solidFill>
              </a:rPr>
              <a:t>Distingue hallazgo preliminar de validación territorial.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A3B2F-8E73-4B27-8F9F-2F33BE3A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140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0F1A51-44FA-4B14-9C04-576F58F1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6"/>
                </a:solidFill>
              </a:defRPr>
            </a:pPr>
            <a:r>
              <a:rPr sz="1350" b="1">
                <a:solidFill>
                  <a:srgbClr val="0B1726"/>
                </a:solidFill>
              </a:rPr>
              <a:t>Responsable institucional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060FE-7728-41A1-8CBB-05A09000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52850"/>
            <a:ext cx="528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Acepta compromisos, reporta avance y entrega evidencia verificable.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6E2EB-60E8-44E0-A7D8-1E75D49F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528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77A"/>
                </a:solidFill>
              </a:defRPr>
            </a:pPr>
            <a:r>
              <a:rPr sz="1125" b="0">
                <a:solidFill>
                  <a:srgbClr val="58677A"/>
                </a:solidFill>
              </a:rPr>
              <a:t>No cierra acciones sin producto o referencia.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C9F2E5-FC68-4054-B46B-2E4318AF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7F0BDD-866B-4F23-B4B2-2116E82A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6"/>
                </a:solidFill>
              </a:defRPr>
            </a:pPr>
            <a:r>
              <a:rPr sz="1350" b="1">
                <a:solidFill>
                  <a:srgbClr val="0B1726"/>
                </a:solidFill>
              </a:rPr>
              <a:t>Analista SIG / F03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612131-517A-46D8-9E73-481114EC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14850"/>
            <a:ext cx="528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Valida fuente, fecha, escala y geometría; dibuja o incorpora capas.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546295-A89A-4674-B144-B6A4C0B3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148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77A"/>
                </a:solidFill>
              </a:defRPr>
            </a:pPr>
            <a:r>
              <a:rPr sz="1125" b="0">
                <a:solidFill>
                  <a:srgbClr val="58677A"/>
                </a:solidFill>
              </a:rPr>
              <a:t>Clasifica sin confundir amenaza con riesgo.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E1970C-0F08-4F67-8DF5-AB8E5564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BF3378-BA28-4CC2-8120-95221BB2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6"/>
                </a:solidFill>
              </a:defRPr>
            </a:pPr>
            <a:r>
              <a:rPr sz="1350" b="1">
                <a:solidFill>
                  <a:srgbClr val="0B1726"/>
                </a:solidFill>
              </a:rPr>
              <a:t>Participante COE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94BA5D-E60E-45BA-A851-C9F6745A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276850"/>
            <a:ext cx="528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Recibe problemas, decisiones y tareas según su rol en la respuesta.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5C07F0-537F-4187-9AFD-E135CDAE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768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77A"/>
                </a:solidFill>
              </a:defRPr>
            </a:pPr>
            <a:r>
              <a:rPr sz="1125" b="0">
                <a:solidFill>
                  <a:srgbClr val="58677A"/>
                </a:solidFill>
              </a:rPr>
              <a:t>Reporta al flujo definido y no en canales paralelos.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6F25F5-430B-414A-90AB-1F852CA0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A8C55F-AF43-414F-8180-F6B542B1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19726808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D5F7F-E7A1-4C78-A9B8-B019EAA0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PRIMER INGRESO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9BFAC-7181-43CB-B493-8E114A48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El panel principal responde dónde profundizar primero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88722-ADA1-45FB-86E5-9920F3D8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5C9FE-23F8-47E4-B19D-2C8B1C88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5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55b1c33d040b7"/>
          <a:stretch xmlns:a="http://schemas.openxmlformats.org/drawingml/2006/main"/>
        </p:blipFill>
        <p:spPr>
          <a:xfrm xmlns:a="http://schemas.openxmlformats.org/drawingml/2006/main">
            <a:off x="4905375" y="1719300"/>
            <a:ext cx="6667500" cy="37527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031EF-3CD0-4C79-81A9-688B8323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LECTURA RECOMENDADA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131CB-13C2-4A60-B3E5-0765D302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0AFD5-0E21-4150-9866-8E418898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Revise las cuatro preguntas estratégicas.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010BF-7AF4-4ACC-9B2C-A5DFDB40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432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06671-DD4E-49A8-8C60-E11BCB5D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Identifique territorios con alertas documentales.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4B41A-9CE1-4DBF-8DF6-F00287E3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2AA2B-963F-4FE7-A20F-7DBFA3AD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No interprete un hallazgo automático como riesgo validado.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12D07-E555-4A09-9161-5A6C2DD6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9A91D3-84C4-4CE3-9E29-CBBB9DC0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Use el indicador como acceso al módulo que puede resolver la pregunta.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2C2FA-4223-4F80-8D73-059CE457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Consejo: use las burbujas de ayuda solo cuando necesite orientación contextual.</a:t>
            </a:r>
          </a:p>
        </p:txBody>
      </p:sp>
    </p:spTree>
    <p:extLst>
      <p:ext uri="{BB962C8B-B14F-4D97-AF65-F5344CB8AC3E}">
        <p14:creationId xmlns:p14="http://schemas.microsoft.com/office/powerpoint/2010/main" val="16887539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E8A732-DEBB-460A-8F50-7118D0F5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BASE ORGANIZATIVA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7A64A-4B46-4B67-9FE6-35C75F52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Territorios y actores definen quién puede responder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53CC3-1F50-4609-B6E1-03AF1A0E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C3D35-88EE-4307-B0DE-178104C2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B5C39-7F23-48E3-9B13-205C061F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TERRITORIOS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4EBF8-65B0-4C35-8864-D3F7C8F1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26"/>
                </a:solidFill>
              </a:defRPr>
            </a:pPr>
            <a:r>
              <a:rPr sz="1575" b="1">
                <a:solidFill>
                  <a:srgbClr val="0B1726"/>
                </a:solidFill>
              </a:rPr>
              <a:t>Concentran plan, menciones, fichas, acciones y alertas por cantón.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99E5B-FDCB-4705-83D7-5217D0C3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ACTORES Y FLUJO COE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8A825-953B-48CE-9FED-9FBBC42E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26"/>
                </a:solidFill>
              </a:defRPr>
            </a:pPr>
            <a:r>
              <a:rPr sz="1575" b="1">
                <a:solidFill>
                  <a:srgbClr val="0B1726"/>
                </a:solidFill>
              </a:rPr>
              <a:t>Muestran cómo pasa la información entre territorio, sala de situación, mesas, plenaria y control.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8C613-DB39-4A1C-82AA-E249F235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MESAS Y GRUPOS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8D252-7F28-45DE-9B51-D608845F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26"/>
                </a:solidFill>
              </a:defRPr>
            </a:pPr>
            <a:r>
              <a:rPr sz="1575" b="1">
                <a:solidFill>
                  <a:srgbClr val="0B1726"/>
                </a:solidFill>
              </a:rPr>
              <a:t>Definen objetivo, líder, entradas, actividades, productos y destino de cada respuesta técnica.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D9CDD-F15B-411F-9C81-B8049F52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71625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B"/>
          </a:solidFill>
          <a:ln xmlns:a="http://schemas.openxmlformats.org/drawingml/2006/main" w="9525">
            <a:solidFill>
              <a:srgbClr val="102C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74B9C-868D-4E97-8B26-88B08524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D7576-DC73-483B-9BF0-B812AE25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94563-5A74-4852-942D-F94F2019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933575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6"/>
                </a:solidFill>
              </a:defRPr>
            </a:pPr>
            <a:r>
              <a:rPr sz="1350" b="1">
                <a:solidFill>
                  <a:srgbClr val="0B1726"/>
                </a:solidFill>
              </a:rPr>
              <a:t>Territorio reporta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5DD21-DDD5-41F4-B474-3A8A18E2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219325"/>
            <a:ext cx="379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77A"/>
                </a:solidFill>
              </a:defRPr>
            </a:pPr>
            <a:r>
              <a:rPr sz="1125" b="0">
                <a:solidFill>
                  <a:srgbClr val="58677A"/>
                </a:solidFill>
              </a:rPr>
              <a:t>Situación, evidencia y necesidad.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69C21E-1C03-4C1B-8DD9-C11E5775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0A8DDD-8719-4EE3-A174-2FC143C0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051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832E1F-340C-4DED-97D2-CDAFCCD4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886075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6"/>
                </a:solidFill>
              </a:defRPr>
            </a:pPr>
            <a:r>
              <a:rPr sz="1350" b="1">
                <a:solidFill>
                  <a:srgbClr val="0B1726"/>
                </a:solidFill>
              </a:rPr>
              <a:t>Sala valida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CBC99-8B34-49B5-87CC-DDAAECCA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171825"/>
            <a:ext cx="379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77A"/>
                </a:solidFill>
              </a:defRPr>
            </a:pPr>
            <a:r>
              <a:rPr sz="1125" b="0">
                <a:solidFill>
                  <a:srgbClr val="58677A"/>
                </a:solidFill>
              </a:rPr>
              <a:t>Depura, integra y plantea la pregunta.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1CA92-AEEB-4153-89B6-8CD81CA5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57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D2C47B-4FDE-4DB5-9A99-EBF90336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576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F9F619-2192-4914-9905-5798C3FB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838575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6"/>
                </a:solidFill>
              </a:defRPr>
            </a:pPr>
            <a:r>
              <a:rPr sz="1350" b="1">
                <a:solidFill>
                  <a:srgbClr val="0B1726"/>
                </a:solidFill>
              </a:rPr>
              <a:t>Mesa produce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5F02F1-728A-4E36-9B0D-B0CEB2F0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124325"/>
            <a:ext cx="379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77A"/>
                </a:solidFill>
              </a:defRPr>
            </a:pPr>
            <a:r>
              <a:rPr sz="1125" b="0">
                <a:solidFill>
                  <a:srgbClr val="58677A"/>
                </a:solidFill>
              </a:rPr>
              <a:t>Asigna responsable, actividad y producto.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1E5198-45B3-4A5E-BC16-F5CE0A2A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10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580CA8-50B5-4D6B-9AC7-BD7FE81F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101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6D1055-6641-4820-8040-8644565C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791075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26"/>
                </a:solidFill>
              </a:defRPr>
            </a:pPr>
            <a:r>
              <a:rPr sz="1350" b="1">
                <a:solidFill>
                  <a:srgbClr val="0B1726"/>
                </a:solidFill>
              </a:rPr>
              <a:t>Control verifica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9E3F2F-82EB-4F5D-8498-F16C7A4D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076825"/>
            <a:ext cx="379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77A"/>
                </a:solidFill>
              </a:defRPr>
            </a:pPr>
            <a:r>
              <a:rPr sz="1125" b="0">
                <a:solidFill>
                  <a:srgbClr val="58677A"/>
                </a:solidFill>
              </a:rPr>
              <a:t>Compara compromiso, plazo y evidencia.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8FEE9C-FEC3-4ED4-BD63-4F3B5D8C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3177159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546A1-0780-4074-A8B6-C3564183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REVISIÓN DE PLANES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D8AA9-CE21-4293-9D9B-5E0F4B44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La revisión del plan separa documento recibido, calidad y brechas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B9189-FCFC-4B86-8656-5DBD5BA4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92570-89CF-4206-9D1A-D90CCCB1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7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377e5b1bf4e35"/>
          <a:stretch xmlns:a="http://schemas.openxmlformats.org/drawingml/2006/main"/>
        </p:blipFill>
        <p:spPr>
          <a:xfrm xmlns:a="http://schemas.openxmlformats.org/drawingml/2006/main">
            <a:off x="4953000" y="1698481"/>
            <a:ext cx="6572250" cy="369916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1C73C-3C6A-4FAF-A905-481BB513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784D8-5B1E-4216-AEE8-448F5C0F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Seleccione la categoría de atención.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92F01-883F-496A-8C6A-B19B3B78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574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CD4FE-DC25-4AB4-87D6-F54BDFD2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Filtre por provincia, territorio o resultado.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86241-D665-4BEE-85F1-E5C577D0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432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9FDD0-30CB-4FC4-BDB9-B9FFCB32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Abra “Revisar” para ver evidencia por componente.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0672D-6DBF-465E-A1CF-9805A0C1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290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E43187-8963-40C3-8620-47F34EFA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Use el checklist como insumo para nuevas acciones, no como calificación definitiva.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AC34A-7F8C-49F4-94E9-DCF98D73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148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DE071-238D-4477-97C6-17912357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Valide territorialmente antes de cerrar una brecha.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73144-61FA-4BBE-9B23-A26A74FC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108590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4C884-0B4C-4803-9418-F5C715E8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SITIOS CRÍTICOS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54D0E-49DC-4D59-BF19-FB08F779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Una mención solo se vuelve ficha cuando permite gestionar el riesgo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89FC9-A013-47D2-904E-2D64DECD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FF5D2-EF5A-410A-996A-80685395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92708230a433d"/>
          <a:stretch xmlns:a="http://schemas.openxmlformats.org/drawingml/2006/main"/>
        </p:blipFill>
        <p:spPr>
          <a:xfrm xmlns:a="http://schemas.openxmlformats.org/drawingml/2006/main">
            <a:off x="5095875" y="1714876"/>
            <a:ext cx="6429375" cy="361874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EDF1A-6347-475C-8BDA-424C45C2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7800"/>
                </a:solidFill>
              </a:defRPr>
            </a:pPr>
            <a:r>
              <a:rPr sz="1425" b="1">
                <a:solidFill>
                  <a:srgbClr val="C77800"/>
                </a:solidFill>
              </a:rPr>
              <a:t>FICHA PENDIENTE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017E7-A017-4BF4-AF00-49CDD23E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Lugar citado en un plan que todavía necesita ubicación, amenaza, nivel, condición, exposición y medida.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39F32-87F8-40AF-9B97-AEB059EB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8A61"/>
                </a:solidFill>
              </a:defRPr>
            </a:pPr>
            <a:r>
              <a:rPr sz="1425" b="1">
                <a:solidFill>
                  <a:srgbClr val="0D8A61"/>
                </a:solidFill>
              </a:rPr>
              <a:t>FICHA GESTIONABLE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D889E-F972-4546-A744-09FF451E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Registro territorial con campos mínimos, trazabilidad y capacidad para vincular decisiones y acciones.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15C8B-3B8C-4EFF-B285-41210AEF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0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Regla práctica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FA601-18E6-42FF-990D-78BDBA90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26"/>
                </a:solidFill>
              </a:defRPr>
            </a:pPr>
            <a:r>
              <a:rPr sz="1575" b="1">
                <a:solidFill>
                  <a:srgbClr val="0B1726"/>
                </a:solidFill>
              </a:rPr>
              <a:t>No crear duplicados: buscar, completar y convertir primero.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63760-1E57-43F2-B559-EF05F06E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16113671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D35D5-A84C-4DE3-BE1F-2CFF0607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DECISIONES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C7D55-AC5D-42FF-8FB5-41B73865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La bandeja ordena preguntas que requieren una respuesta formal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3BE99-2BE7-4F3B-AC44-D41308AA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51115-EA32-4F65-A630-1F30D492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9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4b66f75674cc2"/>
          <a:stretch xmlns:a="http://schemas.openxmlformats.org/drawingml/2006/main"/>
        </p:blipFill>
        <p:spPr>
          <a:xfrm xmlns:a="http://schemas.openxmlformats.org/drawingml/2006/main">
            <a:off x="5095875" y="1714876"/>
            <a:ext cx="6429375" cy="361874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627F8-3C0F-461E-9B8F-F8123F7F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44600-E3FF-4625-A3B8-412F78AD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3781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Trabaje por categoría: validación, mitigación o ejecución.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7E238-E436-4D9F-9F70-756D6F83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EC8B6-303F-439A-8C76-DA868C5C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3781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Priorice urgentes y filtre por estado.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61965-05AB-431C-AC0D-C80ED6AE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622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CF876-7262-48D9-9CD3-CFE8F886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3781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Abra “Resolver” y registre responsable, nivel y fecha.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55ACF-B1A2-4DF6-B8C2-E36549EF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576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2B8A2-7C0A-4EDD-8D3F-DC88F107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3781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Describa la decisión y un compromiso verificable.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CCDB2-4B75-4B15-86D6-ED21B1B2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529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4F62E-FFC3-4B00-BD56-92CEBAD0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3781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Para cerrar, adjunte una evidencia o referencia.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41720-E49C-4A35-AA95-EC570984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3197322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4993CF-9BF0-4143-BFF3-ECE5FB5E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ACCIONES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FACE3-AFF8-4F93-A5CA-03661D4C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Una acción debe tener responsable, plazo, resultado y 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D4417-09EF-4C3C-A8C1-DB565AB0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93898-292B-4CF5-BD17-64E382AD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10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f923542b5446f"/>
          <a:stretch xmlns:a="http://schemas.openxmlformats.org/drawingml/2006/main"/>
        </p:blipFill>
        <p:spPr>
          <a:xfrm xmlns:a="http://schemas.openxmlformats.org/drawingml/2006/main">
            <a:off x="5095875" y="1714876"/>
            <a:ext cx="6429375" cy="361874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95D25-DD9E-45DA-92C6-87C3D6E7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CB4FC-A638-452D-A96F-E603B068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EDC9A-134E-49F6-A1F7-85B95E61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Formalizar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62C2D-2B6D-4502-8A46-71E708A1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77A"/>
                </a:solidFill>
              </a:defRPr>
            </a:pPr>
            <a:r>
              <a:rPr sz="1275" b="0">
                <a:solidFill>
                  <a:srgbClr val="58677A"/>
                </a:solidFill>
              </a:rPr>
              <a:t>Convertir una ficha en compromiso.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C605D-1680-4472-B1CB-8DEBF9E3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49AF3-3FE1-46CF-BD1B-852D7B87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FE59D-4DB8-460C-A57B-0C094CAB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Ejecutar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06C7B-FA2C-4732-A80B-E998D808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908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77A"/>
                </a:solidFill>
              </a:defRPr>
            </a:pPr>
            <a:r>
              <a:rPr sz="1275" b="0">
                <a:solidFill>
                  <a:srgbClr val="58677A"/>
                </a:solidFill>
              </a:rPr>
              <a:t>Actualizar estado, avance y brecha.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EFAD5-9F70-4869-87F0-6B1E2072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F67D2E-B567-4C7C-BA08-B1D0A944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D490E-C16C-4A33-AB2B-17E31039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Evidenciar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B68B85-4C2C-4D87-BBFA-01991245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433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77A"/>
                </a:solidFill>
              </a:defRPr>
            </a:pPr>
            <a:r>
              <a:rPr sz="1275" b="0">
                <a:solidFill>
                  <a:srgbClr val="58677A"/>
                </a:solidFill>
              </a:rPr>
              <a:t>Adjuntar producto, referencia o geometría.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B2CB49-794C-4285-9C67-26505835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24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A61"/>
          </a:solidFill>
          <a:ln xmlns:a="http://schemas.openxmlformats.org/drawingml/2006/main" w="9525">
            <a:solidFill>
              <a:srgbClr val="0D8A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B733C2-E465-4C63-AEB1-9E204654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243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9077E-628C-4A93-92A5-50165AB2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Cerrar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24AE5A-02B2-4E06-BB73-FEFD4E87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910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77A"/>
                </a:solidFill>
              </a:defRPr>
            </a:pPr>
            <a:r>
              <a:rPr sz="1275" b="0">
                <a:solidFill>
                  <a:srgbClr val="58677A"/>
                </a:solidFill>
              </a:rPr>
              <a:t>Solo al 100% y con evidencia verificable.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CEC72F-EC7D-49EC-B5DE-6C0EF258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15451674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188F4C-C682-48D1-8048-64BE0AC6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TALLER CARTOGRÁFICO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F6E15-595D-420E-81C0-257DD148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La cartografía sirve cuando responde una pregunta de gestión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11508-A2C2-41F3-9347-ECCC1E6C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6890F-39C1-45D3-80BE-A7210D12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11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ef909b0204721"/>
          <a:stretch xmlns:a="http://schemas.openxmlformats.org/drawingml/2006/main"/>
        </p:blipFill>
        <p:spPr>
          <a:xfrm xmlns:a="http://schemas.openxmlformats.org/drawingml/2006/main">
            <a:off x="5000625" y="1712524"/>
            <a:ext cx="6524625" cy="36710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E1C60-0E81-4E39-9416-4B2C5C55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89B97-5658-416F-AB7E-BA489D3F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Cargue ZIP/SHP, GeoJSON, KML o KMZ.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F8AA1-F760-4C4A-92F8-1DACCC74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764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111B5-0258-4D39-AE92-789915D2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O dibuje punto, línea, área o buffer.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95118-85C0-40EA-BEBE-C1C8AB48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813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6684A-6B9B-4096-A096-7A3EF7D1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Clasifique como amenaza, vulnerabilidad, exposición o capacidad.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57929-1BF9-4B9A-99F7-4BB2A13E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61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F7C41-D6AF-4667-A371-C81C56EC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Vincule con sitio, acción o sesión COE.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3369E-1356-412A-A058-6F3FDDAA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910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D9A5E-C09A-4E25-BAEA-41A9C861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102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Exporte KMZ o utilice la geometría como evidencia de cierre.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A105C6-7749-458F-8AC3-80C522F9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Para SHP: comprima .shp, .dbf y .prj; se recomienda incluir .shx.</a:t>
            </a:r>
          </a:p>
        </p:txBody>
      </p:sp>
    </p:spTree>
    <p:extLst>
      <p:ext uri="{BB962C8B-B14F-4D97-AF65-F5344CB8AC3E}">
        <p14:creationId xmlns:p14="http://schemas.microsoft.com/office/powerpoint/2010/main" val="19685059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111643-26A5-498E-94D4-E3A01850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USO DE F03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7EBDD-B7C0-4F94-86B5-98680D44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F03 es una fuente con control técnico, no un destino aislado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1E2DC-0B47-4E82-8F3B-A98B8F5C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1E8A5-7596-4DD9-833A-EB5EA89B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2D8DF-529A-4565-BA5F-9700B53F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52863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F99AD-772B-4FD9-9646-C421537F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8A61"/>
                </a:solidFill>
              </a:defRPr>
            </a:pPr>
            <a:r>
              <a:rPr sz="1500" b="1">
                <a:solidFill>
                  <a:srgbClr val="0D8A61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1EEFC-F0C6-4C95-9A0C-E5CF1606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1450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726"/>
                </a:solidFill>
              </a:defRPr>
            </a:pPr>
            <a:r>
              <a:rPr sz="1425" b="1">
                <a:solidFill>
                  <a:srgbClr val="0B1726"/>
                </a:solidFill>
              </a:rPr>
              <a:t>Fuente y custodio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0620B-4D58-4905-B615-B60545D1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383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A"/>
                </a:solidFill>
              </a:defRPr>
            </a:pPr>
            <a:r>
              <a:rPr sz="1200" b="0">
                <a:solidFill>
                  <a:srgbClr val="58677A"/>
                </a:solidFill>
              </a:rPr>
              <a:t>¿Quién produjo o mantiene el dato?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C9060-ED50-4C0E-A011-5F88ACE9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71625"/>
            <a:ext cx="52863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63CF5-6192-41EE-A86F-32A2E8D1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526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8A61"/>
                </a:solidFill>
              </a:defRPr>
            </a:pPr>
            <a:r>
              <a:rPr sz="1500" b="1">
                <a:solidFill>
                  <a:srgbClr val="0D8A61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3343D-8B0F-4A2A-84A6-2DA2C61E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1450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726"/>
                </a:solidFill>
              </a:defRPr>
            </a:pPr>
            <a:r>
              <a:rPr sz="1425" b="1">
                <a:solidFill>
                  <a:srgbClr val="0B1726"/>
                </a:solidFill>
              </a:rPr>
              <a:t>Fecha de corte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90CB9-8650-4671-A115-F47478E4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383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A"/>
                </a:solidFill>
              </a:defRPr>
            </a:pPr>
            <a:r>
              <a:rPr sz="1200" b="0">
                <a:solidFill>
                  <a:srgbClr val="58677A"/>
                </a:solidFill>
              </a:rPr>
              <a:t>¿Sigue siendo vigente para la decisión?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7F4C8-C7E4-4B00-B52E-25D77B16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52863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CEC58-1836-4952-9CC7-EFE32E92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8A61"/>
                </a:solidFill>
              </a:defRPr>
            </a:pPr>
            <a:r>
              <a:rPr sz="1500" b="1">
                <a:solidFill>
                  <a:srgbClr val="0D8A61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7561C-B8B4-4AA2-BC29-DA6EDB0A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726"/>
                </a:solidFill>
              </a:defRPr>
            </a:pPr>
            <a:r>
              <a:rPr sz="1425" b="1">
                <a:solidFill>
                  <a:srgbClr val="0B1726"/>
                </a:solidFill>
              </a:rPr>
              <a:t>Escala y método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06568-B039-4D2D-8B81-ABA3BF45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19475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A"/>
                </a:solidFill>
              </a:defRPr>
            </a:pPr>
            <a:r>
              <a:rPr sz="1200" b="0">
                <a:solidFill>
                  <a:srgbClr val="58677A"/>
                </a:solidFill>
              </a:rPr>
              <a:t>¿Permite el nivel de detalle requerido?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6097B-2718-4060-B2BE-7BAF2CB1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52750"/>
            <a:ext cx="52863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9F143C-AB2E-4F2E-A382-AA2E25D0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337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8A61"/>
                </a:solidFill>
              </a:defRPr>
            </a:pPr>
            <a:r>
              <a:rPr sz="1500" b="1">
                <a:solidFill>
                  <a:srgbClr val="0D8A61"/>
                </a:solidFill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AF629-8C42-4184-863A-2087B148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9562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726"/>
                </a:solidFill>
              </a:defRPr>
            </a:pPr>
            <a:r>
              <a:rPr sz="1425" b="1">
                <a:solidFill>
                  <a:srgbClr val="0B1726"/>
                </a:solidFill>
              </a:rPr>
              <a:t>Geometría y atributos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995DFB-A667-4835-AFD0-CFCCCA65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19475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A"/>
                </a:solidFill>
              </a:defRPr>
            </a:pPr>
            <a:r>
              <a:rPr sz="1200" b="0">
                <a:solidFill>
                  <a:srgbClr val="58677A"/>
                </a:solidFill>
              </a:rPr>
              <a:t>¿Se entiende qué representa cada elemento?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A2A242-7390-4087-AEB0-2B78D027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52863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B244CC-D27C-4F2C-A9B6-A8775264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8A61"/>
                </a:solidFill>
              </a:defRPr>
            </a:pPr>
            <a:r>
              <a:rPr sz="1500" b="1">
                <a:solidFill>
                  <a:srgbClr val="0D8A61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25A12F-3715-44AD-8916-EECB146D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726"/>
                </a:solidFill>
              </a:defRPr>
            </a:pPr>
            <a:r>
              <a:rPr sz="1425" b="1">
                <a:solidFill>
                  <a:srgbClr val="0B1726"/>
                </a:solidFill>
              </a:rPr>
              <a:t>Validez territorial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45E8FE-124D-45BF-829F-93A7D814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0060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A"/>
                </a:solidFill>
              </a:defRPr>
            </a:pPr>
            <a:r>
              <a:rPr sz="1200" b="0">
                <a:solidFill>
                  <a:srgbClr val="58677A"/>
                </a:solidFill>
              </a:rPr>
              <a:t>¿Fue confirmada por el técnico competente?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03E981-BC6B-41DE-B1D3-A154CBE4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33875"/>
            <a:ext cx="52863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47F87D-4473-466C-885E-0F79B8A0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1C389F-6B2F-4914-9C18-0BE0A500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7675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726"/>
                </a:solidFill>
              </a:defRPr>
            </a:pPr>
            <a:r>
              <a:rPr sz="1425" b="1">
                <a:solidFill>
                  <a:srgbClr val="0B1726"/>
                </a:solidFill>
              </a:rPr>
              <a:t>Uso permitido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88524B-47CB-42E5-AA43-A74258C5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0060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A"/>
                </a:solidFill>
              </a:defRPr>
            </a:pPr>
            <a:r>
              <a:rPr sz="1200" b="0">
                <a:solidFill>
                  <a:srgbClr val="58677A"/>
                </a:solidFill>
              </a:rPr>
              <a:t>¿Es concluyente o requiere advertencias?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3BD7E5-4B97-4C32-8EA0-8F02AAFF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Si falta un dato crítico, la plataforma debe mostrar la limitación; no completar con supuestos.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039F0B-9A3E-4F97-AC96-291C8A63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15985906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F373CF-8BDA-4B0D-9885-D8C8694F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CABINA TERRITORIAL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A2212-684A-412F-9777-E5D0B0DE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La Cabina COE conduce un problema hasta productos verificables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AC06E-6B6E-45D1-88FF-257B4B12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43757-A883-4FDA-9C09-8B83BB82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23FD9-4C3C-446B-B513-AC374451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000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2D0DF-2F12-450A-93F3-B5346365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97225-7228-496F-A06F-BBB5702D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666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Abrir sesión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D5C3A-03D7-4F46-B31A-B9D6F268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666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A"/>
                </a:solidFill>
              </a:defRPr>
            </a:pPr>
            <a:r>
              <a:rPr sz="1200" b="0">
                <a:solidFill>
                  <a:srgbClr val="58677A"/>
                </a:solidFill>
              </a:rPr>
              <a:t>Problema, territorio, objetivo y evidencia inicial.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B82A1-B41B-46B6-998A-20AEC5C2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09750"/>
            <a:ext cx="2000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98645-2605-48D1-9308-EE9D0F04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AA616-C9E6-48A0-8820-2C19347B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1666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Organizar actores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D3845-0F67-4D76-A575-96AF7670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1666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A"/>
                </a:solidFill>
              </a:defRPr>
            </a:pPr>
            <a:r>
              <a:rPr sz="1200" b="0">
                <a:solidFill>
                  <a:srgbClr val="58677A"/>
                </a:solidFill>
              </a:rPr>
              <a:t>Quién informa, analiza, decide, ejecuta y controla.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9FB61-094B-4048-8B88-61400587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2000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16CFF-5692-4C69-903F-4536F12A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00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BDA203-6624-4BDD-9AD2-06AC0DD6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76500"/>
            <a:ext cx="1666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Asignar tareas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9F3CC-0B04-4E86-8A3A-9E3688F4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1666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A"/>
                </a:solidFill>
              </a:defRPr>
            </a:pPr>
            <a:r>
              <a:rPr sz="1200" b="0">
                <a:solidFill>
                  <a:srgbClr val="58677A"/>
                </a:solidFill>
              </a:rPr>
              <a:t>Acción, responsable, plazo, producto y destino.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E171CF-5D13-41DB-B1CD-B1DF0D32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2000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35E7B-60B9-49D0-8F62-D1C9B2C2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00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70129-CE28-42F5-B4D0-B69285A2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76500"/>
            <a:ext cx="1666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Monitorear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04B51-28D4-4BF8-B793-83492FE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43250"/>
            <a:ext cx="1666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A"/>
                </a:solidFill>
              </a:defRPr>
            </a:pPr>
            <a:r>
              <a:rPr sz="1200" b="0">
                <a:solidFill>
                  <a:srgbClr val="58677A"/>
                </a:solidFill>
              </a:rPr>
              <a:t>Avance, bloqueo, evidencia geográfica y decisiones.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631323-369C-44D6-B7A0-ADFBA871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809750"/>
            <a:ext cx="2000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D72F6-9A46-4D82-B9E3-3D04987D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00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6921E6-3644-4DB5-81A8-BE31A5EF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76500"/>
            <a:ext cx="1666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Cerrar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9B78FA-2A28-4301-95B1-C2539A96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43250"/>
            <a:ext cx="1666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77A"/>
                </a:solidFill>
              </a:defRPr>
            </a:pPr>
            <a:r>
              <a:rPr sz="1200" b="0">
                <a:solidFill>
                  <a:srgbClr val="58677A"/>
                </a:solidFill>
              </a:rPr>
              <a:t>Producto entregado, evidencia y lección registrada.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EB9538-5C37-46EB-881A-459374E9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863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726"/>
                </a:solidFill>
              </a:defRPr>
            </a:pPr>
            <a:r>
              <a:rPr sz="1725" b="1">
                <a:solidFill>
                  <a:srgbClr val="0B1726"/>
                </a:solidFill>
              </a:rPr>
              <a:t>La Cabina no sustituye a las mesas: ordena lo que cada actor debe producir y cuándo debe reportarlo.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853BB7-E8FA-4782-B780-56AFF407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6477358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9F34FA-3B17-4BB9-AA99-A0CE671E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RECORRIDO PRÁCTICO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BECCF-3F2F-445E-9C42-42F57E5B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Escenario completo: una inundación reportada se convierte en acción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9D9FE-1E63-4808-83B7-753B804B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E2FF9-6095-43B2-BF22-6CA1AC1E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FF81E-8FC3-40C8-B5CC-934D65B1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1.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641AD-D7D3-4D6F-A58C-29F941E0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Menciona un tramo y población expuesta.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E4239-AF14-4BC6-B319-60DF9367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4287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8677A"/>
                </a:solidFill>
              </a:defRPr>
            </a:pPr>
            <a:r>
              <a:rPr sz="1650" b="1">
                <a:solidFill>
                  <a:srgbClr val="58677A"/>
                </a:solidFill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20498-5E5A-41BE-8E94-69D5E3C6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2. Ficha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498D1-4A58-4D71-8D81-FBF409B5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098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El técnico precisa ubicación, amenaza y medida.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1E0B4-170B-4F74-AB81-229A8F94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098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8677A"/>
                </a:solidFill>
              </a:defRPr>
            </a:pPr>
            <a:r>
              <a:rPr sz="1650" b="1">
                <a:solidFill>
                  <a:srgbClr val="58677A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DD6B9-E4AA-4A70-AE2A-3F75FFE4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3. Decisión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DDDC6-0A01-4591-8ECD-EC4C5E2E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908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Control pregunta qué mitigación y quién responde.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03395-2166-4CEA-B99A-C892F5EA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908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8677A"/>
                </a:solidFill>
              </a:defRPr>
            </a:pPr>
            <a:r>
              <a:rPr sz="1650" b="1">
                <a:solidFill>
                  <a:srgbClr val="58677A"/>
                </a:solidFill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A277B-63D4-4B9F-9FC7-B68481D4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719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4. Acción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73570-D39A-4411-95B3-07CB69F1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719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Se asignan obra, responsable, plazo y producto.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2CECC-0C11-46FE-A5A4-6D0B5709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719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8677A"/>
                </a:solidFill>
              </a:defRPr>
            </a:pPr>
            <a:r>
              <a:rPr sz="1650" b="1">
                <a:solidFill>
                  <a:srgbClr val="58677A"/>
                </a:solidFill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3F5DD-4AB9-4A94-BEA4-796CEE3E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5. Mapa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07768E-2A69-4517-AE09-B2A6D8CC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529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Se dibuja o carga el tramo intervenido.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963530-3A85-4562-98EF-4AE977DC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529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8677A"/>
                </a:solidFill>
              </a:defRPr>
            </a:pPr>
            <a:r>
              <a:rPr sz="1650" b="1">
                <a:solidFill>
                  <a:srgbClr val="58677A"/>
                </a:solidFill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BE3EAB-C820-4F5B-9012-886328BA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6. Cierre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89FF94-6A8C-46AC-9FE4-10F50F66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340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726"/>
                </a:solidFill>
              </a:defRPr>
            </a:pPr>
            <a:r>
              <a:rPr sz="1425" b="0">
                <a:solidFill>
                  <a:srgbClr val="0B1726"/>
                </a:solidFill>
              </a:rPr>
              <a:t>Se verifica cobertura, evidencia y resultado.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0562A8-4A41-4206-8A6B-E8E7AF6B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197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B"/>
          </a:solidFill>
          <a:ln xmlns:a="http://schemas.openxmlformats.org/drawingml/2006/main" w="9525">
            <a:solidFill>
              <a:srgbClr val="102C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EAD5E2-F8CC-47F1-A999-40955A90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15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Trazabilidad completa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032F7C-12C3-4615-9F3C-B7135842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938890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68DD1C-B3BC-402D-BC8E-47C7411B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RUTINAS DE USO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9615C-F9FA-46AC-A3C4-A00A93D6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Qué debe hacer cada perfil en su jornada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334BA-324B-4A9A-BE27-A72F6AB4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0AE2D-576B-4769-89F6-4D469F8A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0B40A-C6BF-4C63-B948-3E242F07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Técnico territorial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FAB0B-16C9-49DB-8793-5F50C5A5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Revisar fichas pendientes → actualizar sitios → reportar acciones → cargar evidencia.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99224-2E2C-4601-9D82-07F179A8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770EB-70BB-47FC-ABB0-58FD1714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24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Revisor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7FD14-F953-4EF5-9DD9-4BDBAE3A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Filtrar planes prioritarios → abrir evidencia → registrar brechas → enviar a validación.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FE298-9683-41C9-AA74-D2543225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4795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22E51-1E7B-43FE-AE66-68F47CDB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05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Responsable de acción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6E975-6793-47AA-898E-E0774BB2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861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Revisar compromisos → actualizar avance → reportar bloqueo → adjuntar producto.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D84CC0-DB95-4FF5-A094-7D72E15E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29075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61C69-2F44-4E51-8FD4-1A35ADD8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05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Analista SIG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DF2B5-44B6-4F78-AA6A-7966F6A2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861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Revisar fuente → validar geometría → vincular capa → advertir limitaciones.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20B9A-C8AB-4B93-8C76-F1F91EF8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29075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5700F-40A9-4786-86BF-BA66246E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Administrador/control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B3CB03-556F-4DB1-A2A0-20811593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Revisar alertas → priorizar decisiones → escalar retrasos → verificar cierres.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30DB1-8B28-4E93-8C35-F97E7593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2D95CF-35B2-4C68-9C95-4193E4ED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86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COE / mesa técnica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DF226B-3708-410E-810A-7E32ADE3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672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6"/>
                </a:solidFill>
              </a:defRPr>
            </a:pPr>
            <a:r>
              <a:rPr sz="1350" b="0">
                <a:solidFill>
                  <a:srgbClr val="0B1726"/>
                </a:solidFill>
              </a:rPr>
              <a:t>Abrir problema → confirmar objetivo → producir respuesta → informar al destino.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36A8B5-F654-4C3B-8ACF-74B5CA20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1020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EF8699-939F-46D9-A670-68AB73A4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4131866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6CA4FD-C522-4831-AA86-2F90C3DA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REGLAS DE OPERACIÓN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C9765-9011-4BB1-9C7B-DEEE4467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Cinco reglas protegen la calidad y la responsabilidad institucional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3158F-A50E-4DDD-BE1B-695C172E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84A46-11EA-4504-937B-744D3089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5DD92-EFCF-4F5C-AB8D-6204C84F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6F56D-72D0-49EE-BFA9-D164DEE0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No inventar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7DC8C-D1A6-4BE5-AA90-B5917789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428750"/>
            <a:ext cx="747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77A"/>
                </a:solidFill>
              </a:defRPr>
            </a:pPr>
            <a:r>
              <a:rPr sz="1350" b="0">
                <a:solidFill>
                  <a:srgbClr val="58677A"/>
                </a:solidFill>
              </a:rPr>
              <a:t>Distinguir dato documental, hallazgo preliminar y validación territorial.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9CF18-402A-4FE4-A8A0-D3340634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A154C-2170-406B-8A33-F0EE2FB2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No duplicar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81798-D339-451D-915B-6E7D1203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43150"/>
            <a:ext cx="747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77A"/>
                </a:solidFill>
              </a:defRPr>
            </a:pPr>
            <a:r>
              <a:rPr sz="1350" b="0">
                <a:solidFill>
                  <a:srgbClr val="58677A"/>
                </a:solidFill>
              </a:rPr>
              <a:t>Buscar el sitio, plan o acción antes de crear un registro nuevo.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922FD-8BC0-4C36-864C-D9A07F12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52484-031C-4440-9AEE-3F32B3DC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Conservar fuente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063E0-7282-4A14-B43D-4B77927A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57550"/>
            <a:ext cx="747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77A"/>
                </a:solidFill>
              </a:defRPr>
            </a:pPr>
            <a:r>
              <a:rPr sz="1350" b="0">
                <a:solidFill>
                  <a:srgbClr val="58677A"/>
                </a:solidFill>
              </a:rPr>
              <a:t>Registrar plan, página, institución, fecha, escala o referencia.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20813-D060-4971-94C6-2103E763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FF04C-5DD2-44CF-883B-B53A4D1A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No cerrar sin evidencia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742B5-DF85-4397-925F-B146F870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71950"/>
            <a:ext cx="747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77A"/>
                </a:solidFill>
              </a:defRPr>
            </a:pPr>
            <a:r>
              <a:rPr sz="1350" b="0">
                <a:solidFill>
                  <a:srgbClr val="58677A"/>
                </a:solidFill>
              </a:rPr>
              <a:t>Una respuesta debe producir algo verificable.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9FB54-C5A6-4459-9CF7-B0FC70E4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3B2E4-697E-4368-A0EC-DA9BD009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86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6"/>
                </a:solidFill>
              </a:defRPr>
            </a:pPr>
            <a:r>
              <a:rPr sz="1500" b="1">
                <a:solidFill>
                  <a:srgbClr val="0B1726"/>
                </a:solidFill>
              </a:rPr>
              <a:t>Usar el perfil correcto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98B08-E505-4C3E-8DD9-E129A9BD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086350"/>
            <a:ext cx="747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77A"/>
                </a:solidFill>
              </a:defRPr>
            </a:pPr>
            <a:r>
              <a:rPr sz="1350" b="0">
                <a:solidFill>
                  <a:srgbClr val="58677A"/>
                </a:solidFill>
              </a:rPr>
              <a:t>Cada actor modifica solo lo que le corresponde y queda auditado.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300B8-173F-4878-8764-DF5E1578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9617773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F38D8E-1CF7-4907-B3F7-484CB9E8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SOLUCIÓN DE PROBLEMAS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A4BBA-AE52-439A-93E2-E474EB9A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26"/>
                </a:solidFill>
              </a:defRPr>
            </a:pPr>
            <a:r>
              <a:rPr sz="2700" b="1">
                <a:solidFill>
                  <a:srgbClr val="0B1726"/>
                </a:solidFill>
              </a:rPr>
              <a:t>Cuando algo no funciona, revise primero el dato y el vínculo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366F2-46EE-428E-98B2-CCBC4DD7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BCDD7-47A7-4FDB-8B9A-3E692EA3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677A"/>
                </a:solidFill>
              </a:defRPr>
            </a:pPr>
            <a:r>
              <a:rPr sz="825" b="0">
                <a:solidFill>
                  <a:srgbClr val="58677A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B90EA-CCF6-42CE-A75B-5BB5BACF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763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SITUACIÓN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79A14-46DC-4BFD-8730-F9052EA0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7637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ACCIÓN RECOMENDADA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053F1-A8D8-4797-A979-E5CD7D2A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1071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50B05-EF7C-4EF1-B3F3-BE96039E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26"/>
                </a:solidFill>
              </a:defRPr>
            </a:pPr>
            <a:r>
              <a:rPr sz="1275" b="1">
                <a:solidFill>
                  <a:srgbClr val="0B1726"/>
                </a:solidFill>
              </a:rPr>
              <a:t>No veo un registro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2D840-3EC7-49CB-801C-C4838D8D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Revise territorio, perfil, filtros y categoría.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749E3-4C7C-42CC-B07C-289993DF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62225"/>
            <a:ext cx="1071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76696-4E84-4559-B994-08DB698A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26"/>
                </a:solidFill>
              </a:defRPr>
            </a:pPr>
            <a:r>
              <a:rPr sz="1275" b="1">
                <a:solidFill>
                  <a:srgbClr val="0B1726"/>
                </a:solidFill>
              </a:rPr>
              <a:t>No puedo cerrar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829F6-AD69-4FEA-816F-07F81B0C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3842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Falta evidencia, producto o un campo obligatorio.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6DA9F-7600-46DF-ADB8-3729C89F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1071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E97AB-58B5-4BC8-9A85-32AC1E2F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26"/>
                </a:solidFill>
              </a:defRPr>
            </a:pPr>
            <a:r>
              <a:rPr sz="1275" b="1">
                <a:solidFill>
                  <a:srgbClr val="0B1726"/>
                </a:solidFill>
              </a:rPr>
              <a:t>El mapa no muestra la capa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5C53C-EDB9-4F03-93BE-B8D17B2E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956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Revise geometría, archivo, territorio y estado de validación.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B8029-D1F4-49E8-90BB-701F3C25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76675"/>
            <a:ext cx="1071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2AADC-4623-4C8C-BD74-97A879B1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26"/>
                </a:solidFill>
              </a:defRPr>
            </a:pPr>
            <a:r>
              <a:rPr sz="1275" b="1">
                <a:solidFill>
                  <a:srgbClr val="0B1726"/>
                </a:solidFill>
              </a:rPr>
              <a:t>El SHP no carga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13088-EE5A-4C3C-A77D-A429EEDF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528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Use ZIP con .shp + .dbf + .prj; agregue .shx si existe.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1A120F-49AB-47BC-ACC9-64E6A7F3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1071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B8A9B2-D684-4DC2-9E25-96C2D175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26"/>
                </a:solidFill>
              </a:defRPr>
            </a:pPr>
            <a:r>
              <a:rPr sz="1275" b="1">
                <a:solidFill>
                  <a:srgbClr val="0B1726"/>
                </a:solidFill>
              </a:rPr>
              <a:t>La cifra parece alta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BDF3BD-D02E-4C0A-A39A-27A092EB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101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Diferencie menciones documentales de fichas gestionables.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B18554-001D-4022-ACA1-7C4C9F34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1071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843DB-09B0-4AE3-892F-F2C007D2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26"/>
                </a:solidFill>
              </a:defRPr>
            </a:pPr>
            <a:r>
              <a:rPr sz="1275" b="1">
                <a:solidFill>
                  <a:srgbClr val="0B1726"/>
                </a:solidFill>
              </a:rPr>
              <a:t>La decisión no avanza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ECFD8B-DC16-472E-9A8B-E28AED90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6732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26"/>
                </a:solidFill>
              </a:defRPr>
            </a:pPr>
            <a:r>
              <a:rPr sz="1275" b="0">
                <a:solidFill>
                  <a:srgbClr val="0B1726"/>
                </a:solidFill>
              </a:rPr>
              <a:t>Confirme responsable, nivel de gestión y fecha de compromiso.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7C8445-57B6-4147-B3BB-4B762233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77A"/>
                </a:solidFill>
              </a:defRPr>
            </a:pPr>
            <a:r>
              <a:rPr sz="750" b="0">
                <a:solidFill>
                  <a:srgbClr val="58677A"/>
                </a:solidFill>
              </a:rPr>
              <a:t>SmartRisk CZ5 · Gestión integral del riesgo con trazabilidad</a:t>
            </a:r>
          </a:p>
        </p:txBody>
      </p:sp>
    </p:spTree>
    <p:extLst>
      <p:ext uri="{BB962C8B-B14F-4D97-AF65-F5344CB8AC3E}">
        <p14:creationId xmlns:p14="http://schemas.microsoft.com/office/powerpoint/2010/main" val="4426011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2C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D5DF4-5585-47D3-8BEC-1265D35B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8191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La plataforma funciona cuando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cada dato llega a una decisión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y cada decisión llega a evidencia.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4AA75-B5D6-48DA-A094-363F7500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</a:defRPr>
            </a:pPr>
            <a:r>
              <a:rPr sz="1350" b="1">
                <a:solidFill>
                  <a:srgbClr val="6DCBF4"/>
                </a:solidFill>
              </a:rPr>
              <a:t>Compromiso de los equipos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B45AC-1E36-4CEF-A5CA-1F770F0D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Actualizar con oportunidad · conservar la fuente · responder según el perfil · cerrar con evidencia.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7EE0A-8E25-4B8D-A795-2AF2273C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477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65DB1-1765-4D75-AE72-7415F8B0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238250"/>
            <a:ext cx="1524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C3B"/>
                </a:solidFill>
              </a:defRPr>
            </a:pPr>
            <a:r>
              <a:rPr sz="1800" b="1">
                <a:solidFill>
                  <a:srgbClr val="102C3B"/>
                </a:solidFill>
              </a:rPr>
              <a:t>RIESGO</a:t>
            </a:r>
          </a:p>
          <a:p xmlns:a="http://schemas.openxmlformats.org/drawingml/2006/main">
            <a:pPr algn="ctr">
              <a:defRPr sz="1800" b="1">
                <a:solidFill>
                  <a:srgbClr val="102C3B"/>
                </a:solidFill>
              </a:defRPr>
            </a:pPr>
            <a:r>
              <a:rPr sz="1800" b="1">
                <a:solidFill>
                  <a:srgbClr val="102C3B"/>
                </a:solidFill>
              </a:rPr>
              <a:t>→</a:t>
            </a:r>
          </a:p>
          <a:p xmlns:a="http://schemas.openxmlformats.org/drawingml/2006/main">
            <a:pPr algn="ctr">
              <a:defRPr sz="1800" b="1">
                <a:solidFill>
                  <a:srgbClr val="102C3B"/>
                </a:solidFill>
              </a:defRPr>
            </a:pPr>
            <a:r>
              <a:rPr sz="1800" b="1">
                <a:solidFill>
                  <a:srgbClr val="102C3B"/>
                </a:solidFill>
              </a:rPr>
              <a:t>ACCIÓN</a:t>
            </a:r>
          </a:p>
          <a:p xmlns:a="http://schemas.openxmlformats.org/drawingml/2006/main">
            <a:pPr algn="ctr">
              <a:defRPr sz="1800" b="1">
                <a:solidFill>
                  <a:srgbClr val="102C3B"/>
                </a:solidFill>
              </a:defRPr>
            </a:pPr>
            <a:r>
              <a:rPr sz="1800" b="1">
                <a:solidFill>
                  <a:srgbClr val="102C3B"/>
                </a:solidFill>
              </a:rPr>
              <a:t>→</a:t>
            </a:r>
          </a:p>
          <a:p xmlns:a="http://schemas.openxmlformats.org/drawingml/2006/main">
            <a:pPr algn="ctr">
              <a:defRPr sz="1800" b="1">
                <a:solidFill>
                  <a:srgbClr val="102C3B"/>
                </a:solidFill>
              </a:defRPr>
            </a:pPr>
            <a:r>
              <a:rPr sz="1800" b="1">
                <a:solidFill>
                  <a:srgbClr val="102C3B"/>
                </a:solidFill>
              </a:rPr>
              <a:t>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C944C-4B1F-4F74-BA5D-B42621CD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Acceso: https://smartrisk-cz5-produccion.web.app</a:t>
            </a:r>
          </a:p>
        </p:txBody>
      </p:sp>
    </p:spTree>
    <p:extLst>
      <p:ext uri="{BB962C8B-B14F-4D97-AF65-F5344CB8AC3E}">
        <p14:creationId xmlns:p14="http://schemas.microsoft.com/office/powerpoint/2010/main" val="8863299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2026-07-18T23:49:08.1700000Z</dcterms:created>
  <dcterms:modified xsi:type="dcterms:W3CDTF">2026-07-18T23:49:08.1700000Z</dcterms:modified>
</coreProperties>
</file>