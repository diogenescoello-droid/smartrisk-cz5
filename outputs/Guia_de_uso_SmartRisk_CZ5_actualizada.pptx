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0e75766444b00" /><Relationship Type="http://schemas.openxmlformats.org/officeDocument/2006/relationships/extended-properties" Target="/docProps/app.xml" Id="R36c643cf7e8f4c3d" /><Relationship Type="http://schemas.openxmlformats.org/officeDocument/2006/relationships/officeDocument" Target="/ppt/presentation.xml" Id="R21bff403af004e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314238a4c4631"/>
  </p:sldMasterIdLst>
  <p:notesMasterIdLst>
    <p:notesMasterId xmlns:r="http://schemas.openxmlformats.org/officeDocument/2006/relationships" r:id="R5c997124270b451f"/>
  </p:notesMasterIdLst>
  <p:sldIdLst>
    <p:sldId xmlns:r="http://schemas.openxmlformats.org/officeDocument/2006/relationships" id="256" r:id="R4aebb15f2ef14eff"/>
    <p:sldId xmlns:r="http://schemas.openxmlformats.org/officeDocument/2006/relationships" id="257" r:id="Re1d995c47af24d94"/>
    <p:sldId xmlns:r="http://schemas.openxmlformats.org/officeDocument/2006/relationships" id="258" r:id="R93a1f0784f2c47d9"/>
    <p:sldId xmlns:r="http://schemas.openxmlformats.org/officeDocument/2006/relationships" id="259" r:id="R6cdaf07c203d4b23"/>
    <p:sldId xmlns:r="http://schemas.openxmlformats.org/officeDocument/2006/relationships" id="260" r:id="R66351e1886284e6b"/>
    <p:sldId xmlns:r="http://schemas.openxmlformats.org/officeDocument/2006/relationships" id="261" r:id="R6d69b03ae47e4909"/>
    <p:sldId xmlns:r="http://schemas.openxmlformats.org/officeDocument/2006/relationships" id="262" r:id="Rd41a990e288c4be7"/>
    <p:sldId xmlns:r="http://schemas.openxmlformats.org/officeDocument/2006/relationships" id="263" r:id="R2253fa3974544654"/>
    <p:sldId xmlns:r="http://schemas.openxmlformats.org/officeDocument/2006/relationships" id="264" r:id="Ra928897d4bc64ccb"/>
    <p:sldId xmlns:r="http://schemas.openxmlformats.org/officeDocument/2006/relationships" id="265" r:id="R1dab5403d3e04d93"/>
    <p:sldId xmlns:r="http://schemas.openxmlformats.org/officeDocument/2006/relationships" id="266" r:id="R3ee8d47e40394496"/>
    <p:sldId xmlns:r="http://schemas.openxmlformats.org/officeDocument/2006/relationships" id="267" r:id="R25d203f333894259"/>
    <p:sldId xmlns:r="http://schemas.openxmlformats.org/officeDocument/2006/relationships" id="268" r:id="Rc70f7b0ddd10482b"/>
    <p:sldId xmlns:r="http://schemas.openxmlformats.org/officeDocument/2006/relationships" id="269" r:id="Rd33b6b9947cc4104"/>
    <p:sldId xmlns:r="http://schemas.openxmlformats.org/officeDocument/2006/relationships" id="270" r:id="Reb4add08068e4997"/>
    <p:sldId xmlns:r="http://schemas.openxmlformats.org/officeDocument/2006/relationships" id="271" r:id="R8acb3b28fcca47ef"/>
    <p:sldId xmlns:r="http://schemas.openxmlformats.org/officeDocument/2006/relationships" id="272" r:id="R176a71762b084915"/>
    <p:sldId xmlns:r="http://schemas.openxmlformats.org/officeDocument/2006/relationships" id="273" r:id="Rb14141f5d5494f21"/>
    <p:sldId xmlns:r="http://schemas.openxmlformats.org/officeDocument/2006/relationships" id="274" r:id="R00369ab574784255"/>
    <p:sldId xmlns:r="http://schemas.openxmlformats.org/officeDocument/2006/relationships" id="275" r:id="Rde9c6a77e4924a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686dfb55a4c55" /><Relationship Type="http://schemas.openxmlformats.org/officeDocument/2006/relationships/slideMaster" Target="/ppt/slideMasters/slideMaster1.xml" Id="R33c314238a4c4631" /><Relationship Type="http://schemas.openxmlformats.org/officeDocument/2006/relationships/notesMaster" Target="/ppt/notesMasters/notesMaster1.xml" Id="R5c997124270b451f" /><Relationship Type="http://schemas.openxmlformats.org/officeDocument/2006/relationships/presProps" Target="/ppt/presProps.xml" Id="R3628f8481ad44d62" /><Relationship Type="http://schemas.openxmlformats.org/officeDocument/2006/relationships/tableStyles" Target="/ppt/tableStyles.xml" Id="Rd40dafe1d5f24f31" /><Relationship Type="http://schemas.openxmlformats.org/officeDocument/2006/relationships/slide" Target="/ppt/slides/slide1.xml" Id="R4aebb15f2ef14eff" /><Relationship Type="http://schemas.openxmlformats.org/officeDocument/2006/relationships/slide" Target="/ppt/slides/slide2.xml" Id="Re1d995c47af24d94" /><Relationship Type="http://schemas.openxmlformats.org/officeDocument/2006/relationships/slide" Target="/ppt/slides/slide3.xml" Id="R93a1f0784f2c47d9" /><Relationship Type="http://schemas.openxmlformats.org/officeDocument/2006/relationships/slide" Target="/ppt/slides/slide4.xml" Id="R6cdaf07c203d4b23" /><Relationship Type="http://schemas.openxmlformats.org/officeDocument/2006/relationships/slide" Target="/ppt/slides/slide5.xml" Id="R66351e1886284e6b" /><Relationship Type="http://schemas.openxmlformats.org/officeDocument/2006/relationships/slide" Target="/ppt/slides/slide6.xml" Id="R6d69b03ae47e4909" /><Relationship Type="http://schemas.openxmlformats.org/officeDocument/2006/relationships/slide" Target="/ppt/slides/slide7.xml" Id="Rd41a990e288c4be7" /><Relationship Type="http://schemas.openxmlformats.org/officeDocument/2006/relationships/slide" Target="/ppt/slides/slide8.xml" Id="R2253fa3974544654" /><Relationship Type="http://schemas.openxmlformats.org/officeDocument/2006/relationships/slide" Target="/ppt/slides/slide9.xml" Id="Ra928897d4bc64ccb" /><Relationship Type="http://schemas.openxmlformats.org/officeDocument/2006/relationships/slide" Target="/ppt/slides/slide10.xml" Id="R1dab5403d3e04d93" /><Relationship Type="http://schemas.openxmlformats.org/officeDocument/2006/relationships/slide" Target="/ppt/slides/slide11.xml" Id="R3ee8d47e40394496" /><Relationship Type="http://schemas.openxmlformats.org/officeDocument/2006/relationships/slide" Target="/ppt/slides/slide12.xml" Id="R25d203f333894259" /><Relationship Type="http://schemas.openxmlformats.org/officeDocument/2006/relationships/slide" Target="/ppt/slides/slide13.xml" Id="Rc70f7b0ddd10482b" /><Relationship Type="http://schemas.openxmlformats.org/officeDocument/2006/relationships/slide" Target="/ppt/slides/slide14.xml" Id="Rd33b6b9947cc4104" /><Relationship Type="http://schemas.openxmlformats.org/officeDocument/2006/relationships/slide" Target="/ppt/slides/slide15.xml" Id="Reb4add08068e4997" /><Relationship Type="http://schemas.openxmlformats.org/officeDocument/2006/relationships/slide" Target="/ppt/slides/slide16.xml" Id="R8acb3b28fcca47ef" /><Relationship Type="http://schemas.openxmlformats.org/officeDocument/2006/relationships/slide" Target="/ppt/slides/slide17.xml" Id="R176a71762b084915" /><Relationship Type="http://schemas.openxmlformats.org/officeDocument/2006/relationships/slide" Target="/ppt/slides/slide18.xml" Id="Rb14141f5d5494f21" /><Relationship Type="http://schemas.openxmlformats.org/officeDocument/2006/relationships/slide" Target="/ppt/slides/slide19.xml" Id="R00369ab574784255" /><Relationship Type="http://schemas.openxmlformats.org/officeDocument/2006/relationships/slide" Target="/ppt/slides/slide20.xml" Id="Rde9c6a77e492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9f3422a7d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58c9a455e4586" /><Relationship Type="http://schemas.openxmlformats.org/officeDocument/2006/relationships/notesMaster" Target="/ppt/notesMasters/notesMaster1.xml" Id="Rd31ce2b99661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fcb812e344f07" /><Relationship Type="http://schemas.openxmlformats.org/officeDocument/2006/relationships/notesMaster" Target="/ppt/notesMasters/notesMaster1.xml" Id="R9fe7819df0b14e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923dcd77a4f4a" /><Relationship Type="http://schemas.openxmlformats.org/officeDocument/2006/relationships/notesMaster" Target="/ppt/notesMasters/notesMaster1.xml" Id="Rf8deb65677564e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68b14975d44387" /><Relationship Type="http://schemas.openxmlformats.org/officeDocument/2006/relationships/notesMaster" Target="/ppt/notesMasters/notesMaster1.xml" Id="Rd5102b782266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2470255634fde" /><Relationship Type="http://schemas.openxmlformats.org/officeDocument/2006/relationships/notesMaster" Target="/ppt/notesMasters/notesMaster1.xml" Id="Refa1c57f0d1d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446193d6640b1" /><Relationship Type="http://schemas.openxmlformats.org/officeDocument/2006/relationships/notesMaster" Target="/ppt/notesMasters/notesMaster1.xml" Id="R2c02fd330d3449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425618346a4bfe" /><Relationship Type="http://schemas.openxmlformats.org/officeDocument/2006/relationships/notesMaster" Target="/ppt/notesMasters/notesMaster1.xml" Id="R9016407f119044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01cc72dd74faf" /><Relationship Type="http://schemas.openxmlformats.org/officeDocument/2006/relationships/notesMaster" Target="/ppt/notesMasters/notesMaster1.xml" Id="R0ef734ff48c64e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cb640f7c4449a" /><Relationship Type="http://schemas.openxmlformats.org/officeDocument/2006/relationships/notesMaster" Target="/ppt/notesMasters/notesMaster1.xml" Id="R3dbff62e515442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d47788969d4b70" /><Relationship Type="http://schemas.openxmlformats.org/officeDocument/2006/relationships/notesMaster" Target="/ppt/notesMasters/notesMaster1.xml" Id="Re37adc329b6544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48750e064149b0" /><Relationship Type="http://schemas.openxmlformats.org/officeDocument/2006/relationships/notesMaster" Target="/ppt/notesMasters/notesMaster1.xml" Id="R84d2dcfbaaff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f39f6c5d68437a" /><Relationship Type="http://schemas.openxmlformats.org/officeDocument/2006/relationships/notesMaster" Target="/ppt/notesMasters/notesMaster1.xml" Id="R50bc65b18a3143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62500cb6454e7f" /><Relationship Type="http://schemas.openxmlformats.org/officeDocument/2006/relationships/notesMaster" Target="/ppt/notesMasters/notesMaster1.xml" Id="R54d14fb2567c48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6a4359b5b14162" /><Relationship Type="http://schemas.openxmlformats.org/officeDocument/2006/relationships/notesMaster" Target="/ppt/notesMasters/notesMaster1.xml" Id="R58d44c4d0c794f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c21fa2299c4344" /><Relationship Type="http://schemas.openxmlformats.org/officeDocument/2006/relationships/notesMaster" Target="/ppt/notesMasters/notesMaster1.xml" Id="R4ad30d9ba2c246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29baffb4f843c3" /><Relationship Type="http://schemas.openxmlformats.org/officeDocument/2006/relationships/notesMaster" Target="/ppt/notesMasters/notesMaster1.xml" Id="Re7b97372196842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bb53088c73429f" /><Relationship Type="http://schemas.openxmlformats.org/officeDocument/2006/relationships/notesMaster" Target="/ppt/notesMasters/notesMaster1.xml" Id="R95dba41349a649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a9cf1d8feb4c42" /><Relationship Type="http://schemas.openxmlformats.org/officeDocument/2006/relationships/notesMaster" Target="/ppt/notesMasters/notesMaster1.xml" Id="R317efab4509c44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d3149031a4e1f" /><Relationship Type="http://schemas.openxmlformats.org/officeDocument/2006/relationships/notesMaster" Target="/ppt/notesMasters/notesMaster1.xml" Id="Rfb8e1f81904f4b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2b9a5988d64450" /><Relationship Type="http://schemas.openxmlformats.org/officeDocument/2006/relationships/notesMaster" Target="/ppt/notesMasters/notesMaster1.xml" Id="Re229ed9dc830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d96ad04a6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4aeac853a4f54" /><Relationship Type="http://schemas.openxmlformats.org/officeDocument/2006/relationships/slideLayout" Target="/ppt/slideLayouts/slideLayout1.xml" Id="R9d5def09f0da48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def09f0da48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66d4c655d48ea" /><Relationship Type="http://schemas.openxmlformats.org/officeDocument/2006/relationships/notesSlide" Target="/ppt/notesSlides/notesSlide1.xml" Id="R69119e0238be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0a7f89c8b498b" /><Relationship Type="http://schemas.openxmlformats.org/officeDocument/2006/relationships/notesSlide" Target="/ppt/notesSlides/notesSlide2.xml" Id="R87194afff177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04f670aeb44b5" /><Relationship Type="http://schemas.openxmlformats.org/officeDocument/2006/relationships/notesSlide" Target="/ppt/notesSlides/notesSlide3.xml" Id="Ra39b6f130f63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2b355a13b46c6" /><Relationship Type="http://schemas.openxmlformats.org/officeDocument/2006/relationships/notesSlide" Target="/ppt/notesSlides/notesSlide4.xml" Id="R8ed65c470e62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0172aa7e4b7e" /><Relationship Type="http://schemas.openxmlformats.org/officeDocument/2006/relationships/notesSlide" Target="/ppt/notesSlides/notesSlide5.xml" Id="Rcdd89805a307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02980be9f49fd" /><Relationship Type="http://schemas.openxmlformats.org/officeDocument/2006/relationships/image" Target="/ppt/media/image.jpeg" Id="Rdeb355c209234981" /><Relationship Type="http://schemas.openxmlformats.org/officeDocument/2006/relationships/notesSlide" Target="/ppt/notesSlides/notesSlide6.xml" Id="R1a42d11a8718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cd0b4de01452e" /><Relationship Type="http://schemas.openxmlformats.org/officeDocument/2006/relationships/notesSlide" Target="/ppt/notesSlides/notesSlide7.xml" Id="R5c3c1fd02c11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16eafa6c2441f" /><Relationship Type="http://schemas.openxmlformats.org/officeDocument/2006/relationships/image" Target="/ppt/media/image2.jpeg" Id="R72343e0d024741e2" /><Relationship Type="http://schemas.openxmlformats.org/officeDocument/2006/relationships/notesSlide" Target="/ppt/notesSlides/notesSlide8.xml" Id="Rca0d1f1705ea45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fc6c879ba4b61" /><Relationship Type="http://schemas.openxmlformats.org/officeDocument/2006/relationships/image" Target="/ppt/media/image3.jpeg" Id="R059433edb74a48fa" /><Relationship Type="http://schemas.openxmlformats.org/officeDocument/2006/relationships/notesSlide" Target="/ppt/notesSlides/notesSlide9.xml" Id="R2631bce83fa14c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b2695524e424e" /><Relationship Type="http://schemas.openxmlformats.org/officeDocument/2006/relationships/image" Target="/ppt/media/image4.jpeg" Id="R1892df7c750445ff" /><Relationship Type="http://schemas.openxmlformats.org/officeDocument/2006/relationships/notesSlide" Target="/ppt/notesSlides/notesSlide10.xml" Id="Re10e4fc59c3a48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3d165d37f4e1c" /><Relationship Type="http://schemas.openxmlformats.org/officeDocument/2006/relationships/image" Target="/ppt/media/image5.jpeg" Id="Rd797258115a44c3b" /><Relationship Type="http://schemas.openxmlformats.org/officeDocument/2006/relationships/notesSlide" Target="/ppt/notesSlides/notesSlide11.xml" Id="R615444a8b6c144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73861998a481b" /><Relationship Type="http://schemas.openxmlformats.org/officeDocument/2006/relationships/notesSlide" Target="/ppt/notesSlides/notesSlide12.xml" Id="Rfb19624636b043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50247ffca4ea2" /><Relationship Type="http://schemas.openxmlformats.org/officeDocument/2006/relationships/image" Target="/ppt/media/image6.jpeg" Id="R43d9cd927d27429a" /><Relationship Type="http://schemas.openxmlformats.org/officeDocument/2006/relationships/notesSlide" Target="/ppt/notesSlides/notesSlide13.xml" Id="R55bf2374e24840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95df03f124455" /><Relationship Type="http://schemas.openxmlformats.org/officeDocument/2006/relationships/notesSlide" Target="/ppt/notesSlides/notesSlide14.xml" Id="Rf41dddf7eb6c4c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6900a4cc54a7c" /><Relationship Type="http://schemas.openxmlformats.org/officeDocument/2006/relationships/notesSlide" Target="/ppt/notesSlides/notesSlide15.xml" Id="Reeda3b2ceba245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ec82a5b84524" /><Relationship Type="http://schemas.openxmlformats.org/officeDocument/2006/relationships/notesSlide" Target="/ppt/notesSlides/notesSlide16.xml" Id="R8963434eb95344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034dc714142f4" /><Relationship Type="http://schemas.openxmlformats.org/officeDocument/2006/relationships/notesSlide" Target="/ppt/notesSlides/notesSlide17.xml" Id="R07c2686ed0ed48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4c67ea6e445fc" /><Relationship Type="http://schemas.openxmlformats.org/officeDocument/2006/relationships/notesSlide" Target="/ppt/notesSlides/notesSlide18.xml" Id="R52cc1ae1d3a249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4b50ba34f4b29" /><Relationship Type="http://schemas.openxmlformats.org/officeDocument/2006/relationships/notesSlide" Target="/ppt/notesSlides/notesSlide19.xml" Id="R4f183c4df28b4b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239b849e64d95" /><Relationship Type="http://schemas.openxmlformats.org/officeDocument/2006/relationships/notesSlide" Target="/ppt/notesSlides/notesSlide20.xml" Id="Ree3d14cb90f24f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529AB-222B-49D2-B442-BE15705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SmartRisk CZ5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00A22-B0D3-474E-9F91-64C080A0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726"/>
                </a:solidFill>
              </a:defRPr>
            </a:pPr>
            <a:r>
              <a:rPr sz="4050" b="1">
                <a:solidFill>
                  <a:srgbClr val="0B1726"/>
                </a:solidFill>
              </a:rPr>
              <a:t>Gestionar el riesgo</a:t>
            </a:r>
          </a:p>
          <a:p xmlns:a="http://schemas.openxmlformats.org/drawingml/2006/main">
            <a:pPr algn="l">
              <a:defRPr sz="4050" b="1">
                <a:solidFill>
                  <a:srgbClr val="0B1726"/>
                </a:solidFill>
              </a:defRPr>
            </a:pPr>
            <a:r>
              <a:rPr sz="4050" b="1">
                <a:solidFill>
                  <a:srgbClr val="0B1726"/>
                </a:solidFill>
              </a:rPr>
              <a:t>como un flujo común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4870B-52DE-408F-A628-7E9554A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77A"/>
                </a:solidFill>
              </a:defRPr>
            </a:pPr>
            <a:r>
              <a:rPr sz="1800" b="0">
                <a:solidFill>
                  <a:srgbClr val="58677A"/>
                </a:solidFill>
              </a:rPr>
              <a:t>Guía detallada para técnicos, responsables institucionales, analistas y participantes del COE.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8825E-91C8-4D21-A491-9618BA9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D547D-F5AC-4436-8CDC-B7E5E90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38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A455D-68D4-4955-BB13-ECB5BCE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EB06F-1F5F-4E07-B677-BC54384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RIESGO TERRITORIAL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4792-E781-4FE4-B479-BB53811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7C0FC-5123-493B-ACCC-A6AF692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DECISIONES Y ACCIONES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8A54F-D2CD-49ED-A8E2-332826D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C99CB-A3A4-4BDE-98E6-0934C52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EVIDENCIA Y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63F65-B694-4ADD-8666-35F32186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Coordinación Zonal 5 · 2026</a:t>
            </a:r>
          </a:p>
        </p:txBody>
      </p:sp>
    </p:spTree>
    <p:extLst>
      <p:ext uri="{BB962C8B-B14F-4D97-AF65-F5344CB8AC3E}">
        <p14:creationId xmlns:p14="http://schemas.microsoft.com/office/powerpoint/2010/main" val="2138553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6554E-3FAF-4338-873E-9E6E024C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PROPÓSITO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14C88-AD5F-44EB-83DA-81A3E092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plataforma convierte documentos dispersos en gestión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10913-FF14-4B0E-AA20-FD1D57D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3D2B1-90F1-4DA8-A7F5-A35BA40A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E917E-0C23-4B16-8E0F-E01A922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6"/>
                </a:solidFill>
              </a:defRPr>
            </a:pPr>
            <a:r>
              <a:rPr sz="1875" b="1">
                <a:solidFill>
                  <a:srgbClr val="0B1726"/>
                </a:solidFill>
              </a:rPr>
              <a:t>El valor no está en registrar más datos, sino en conectar cada hallazgo con una decisión, un responsable y una evidencia.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F2FF4-6ED0-48A0-B81F-F0E2A34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C82B5-F0F1-4133-8C38-570BDE5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77A"/>
                </a:solidFill>
              </a:defRPr>
            </a:pPr>
            <a:r>
              <a:rPr sz="1125" b="1">
                <a:solidFill>
                  <a:srgbClr val="58677A"/>
                </a:solidFill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A9F18-F993-491C-80D5-1CA1E3A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Planes, correos, mapas y compromisos separados.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0A50A-DF62-48CF-A769-C9AC9FDA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La misma brecha podía revisarse varias veces sin convertirse en acción.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BE8F5-5B69-4DDC-9716-A585657B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A2D78-47D1-4D3F-A3D2-41F1CD8D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CON SMARTRISK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CCB78-004B-4A75-8663-05103670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Una fuente común conserva territorio, evidencia, responsable, plazo y estado.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E9C02-E578-4C83-8C28-B90EE62E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Cada técnico sabe qué debe completar y el control puede seguir el resultado.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A689E-7497-414A-B2E2-2336993A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BBBA9-B41A-4659-8223-02476C4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77A"/>
                </a:solidFill>
              </a:defRPr>
            </a:pPr>
            <a:r>
              <a:rPr sz="1125" b="1">
                <a:solidFill>
                  <a:srgbClr val="58677A"/>
                </a:solidFill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E6BE0-7A31-43C4-8147-ED00361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El riesgo fluye desde el territorio hacia quien decide y vuelve como una acción controlable.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20602-F3E3-46E5-8806-F1B13533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La trazabilidad permite explicar qué se hizo, qué falta y por qué.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8BCB6-3750-44F8-B29E-3CB17404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702303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1A10C-6020-4D55-8C08-5D589583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NUEVO ENFOQUE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D41C-4E3B-4695-9F68-ACC76244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El cambio de paradigma: gestionar el riesgo como un ciclo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FBF03-72F8-4674-93BE-6B919787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AB681-3F06-4EC2-91FA-8CC6F65F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831FD-5E18-44DE-BCCF-1471458F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677A"/>
                </a:solidFill>
              </a:defRPr>
            </a:pPr>
            <a:r>
              <a:rPr sz="1575" b="1">
                <a:solidFill>
                  <a:srgbClr val="58677A"/>
                </a:solidFill>
              </a:rPr>
              <a:t>De revisar documentos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4463C-B5CA-416A-994A-5F2D783D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76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BF151-7442-433C-9932-2C7B83E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a comprender condiciones reales del territorio.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DC75A-6A0B-4CF9-AF3F-61BFC7A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677A"/>
                </a:solidFill>
              </a:defRPr>
            </a:pPr>
            <a:r>
              <a:rPr sz="1575" b="1">
                <a:solidFill>
                  <a:srgbClr val="58677A"/>
                </a:solidFill>
              </a:rPr>
              <a:t>De acumular registros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D471E-E3F6-437D-A51F-C8976AD0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526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D3FD8-AB4E-42DE-B4D8-2ED2D51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52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a responder preguntas para decidir.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A5E79-D79E-4306-B8C3-1E6601D4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677A"/>
                </a:solidFill>
              </a:defRPr>
            </a:pPr>
            <a:r>
              <a:rPr sz="1575" b="1">
                <a:solidFill>
                  <a:srgbClr val="58677A"/>
                </a:solidFill>
              </a:rPr>
              <a:t>De recomendar acciones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BC890-4BAB-4F06-9424-961DB7BA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289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7512F-89F6-4105-AA9E-1E14FF6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28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a formalizar responsables, plazos y resultados.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0CEFA-6F3E-4DF0-BD36-67ECE22B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677A"/>
                </a:solidFill>
              </a:defRPr>
            </a:pPr>
            <a:r>
              <a:rPr sz="1575" b="1">
                <a:solidFill>
                  <a:srgbClr val="58677A"/>
                </a:solidFill>
              </a:rPr>
              <a:t>De mostrar mapas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14D27-2EBA-4FE1-AC9B-09371FB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052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11037-0E8F-41D5-85E1-E47E0EE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a usar geometría como evidencia de intervención.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06C0C-A7DF-4921-909D-FCE7F2A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15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677A"/>
                </a:solidFill>
              </a:defRPr>
            </a:pPr>
            <a:r>
              <a:rPr sz="1575" b="1">
                <a:solidFill>
                  <a:srgbClr val="58677A"/>
                </a:solidFill>
              </a:rPr>
              <a:t>De reportar avances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B1D17-007F-4760-83A1-C0ECFB4D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815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CE1CD-EE42-489D-B928-23101419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815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a conservar trazabilidad y cierres verificables.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8FD11-6109-45D6-8BD0-28AB41D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8A61"/>
                </a:solidFill>
              </a:defRPr>
            </a:pPr>
            <a:r>
              <a:rPr sz="1575" b="1">
                <a:solidFill>
                  <a:srgbClr val="0D8A61"/>
                </a:solidFill>
              </a:rPr>
              <a:t>SmartRisk no reemplaza el criterio técnico: lo conecta, documenta y convierte en responsabilidad compartida.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A69AE-D650-493A-8C3D-7E7F2DD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977282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D6B0C-B7D2-4672-9715-4B97170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ARQUITECTURA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D3DCA-5F69-4755-8ECD-F2E4740D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 solo flujo conecta ocho módulos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15029-6B6F-43B6-8D61-B5187DD4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343A0-3FBD-451F-BCE8-D44C853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9EF1B-5E9A-4E28-A55F-C79EB8D9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25BD8-8B0B-43DB-835F-65947BFA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53CBF-36A9-4407-B73D-89ED6D1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Territorios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22C46-8072-41FA-B0D3-3BD24F6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E0AEE-09FF-458D-9781-CB01898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5C415-ACD6-418E-BC79-346197D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Actores y flujo COE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431F2-EA5F-407E-9501-1BA60E8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827FD-0EC8-4ABD-AD01-36EDCDB2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4D04C-3B09-45D5-89D8-9934FDB2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Revisión de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266DC-D174-4F08-A89D-2FB77617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51FC6-3CA5-4AE9-A2BC-ED145C4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8BB5E-1C93-4D05-B566-159806C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Sitios críticos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1B896-13DC-479F-8D78-BE7842A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019D6-1DC3-4E50-8AF9-584CB950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BCF7B-96AD-43A7-A746-D52D382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Decisiones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112B3-5D44-4EAA-8721-5871628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5614E-D821-417E-A3C0-778D959E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94A28-D3D5-44BE-AA09-7A817931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Acciones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5F257-F93C-4991-9A10-06D3A28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7C1D3-77F5-4059-82D0-29408A9F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F8BD2-A2CE-41FC-AD77-3EF4612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Herramientas SIG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7448E-CCBD-4A7C-9520-C846BA89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57980-00F5-4AFC-9DE3-49B7A1A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3552-308B-4B78-A7A6-269CE5A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Cabina COE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8DE50-5118-465C-A120-EB7E29D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8A61"/>
                </a:solidFill>
              </a:defRPr>
            </a:pPr>
            <a:r>
              <a:rPr sz="1650" b="1">
                <a:solidFill>
                  <a:srgbClr val="0D8A61"/>
                </a:solidFill>
              </a:rPr>
              <a:t>La información debe avanzar; no se vuelve a escribir desde cero en cada módulo.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8EB137-10C3-4B3D-BC20-4B18724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21934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AD4E44-9DD4-49F6-99A9-F3E0905A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PERFILES Y RESPONSABILIDADES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9095C-674A-48C1-80AD-5204D5E3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Cada perfil ve una parte del proceso, pero todos alimentan la misma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B976E-C9E3-4068-98BD-21A69B2C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7A0C-B078-429E-9A48-9D09ECE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FEA94-627F-456B-8241-BEF2856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Administrador zonal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95B1F-CBA7-40F6-9925-B80BFCB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66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Configura usuarios, territorios y actores; supervisa cobertura y decisiones.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D5A20-D591-40FB-BEC2-65CE70B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No sustituye la validación técnica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6CAB8-83C5-401A-98F9-496DE34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B7DE5-BCD8-4958-B9B0-7D7701A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Técnico territorial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0E359-45FE-4DC6-83DD-67ABFB2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28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Completa fichas, valida lugares, actualiza acciones y carga evidencia.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552C8-16D9-43EC-A605-3618765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Responde por la calidad y actualidad del dato.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9F86B-F70A-4E2F-87BF-7806A7A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FBD5F-1DC2-4152-B7C3-078C407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Revisor de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355D9-9A61-49D8-BF4F-6CF7E67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90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Contrasta estructura, operación, evidencia y propuestas de cada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94A4B-C165-4C96-A16F-CDC9000A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Distingue hallazgo preliminar de validación territorial.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97037-9742-4903-B33E-04276C64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A4C2A-DD5E-4E51-9B8A-489F7C0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Responsable institucional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325D0-A069-4048-A4FC-DD309EC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Acepta compromisos, reporta avance y entrega evidencia verificable.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0A356-0A4F-4A00-9E0A-559642F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No cierra acciones sin producto o referencia.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7FF62-96AC-4810-A9F4-D4679D0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00ECD-38C5-4217-BCA6-6FA0D103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Analista SIG / F03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0A7A8-8243-493E-AE12-9151B94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4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Valida fuente, fecha, escala y geometría; dibuja o incorpora capas.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CE865-EFD6-4C6B-8BFF-71411A1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Clasifica sin confundir amenaza con riesgo.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DECCC-CC39-4778-B2FA-F1487FA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3ED54-700E-4FA8-898C-468FF91F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Participante COE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BEAB2-7C32-4388-9BB3-9EBB3AE6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76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Recibe problemas, decisiones y tareas según su rol en la respuesta.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6C47B-AA47-4F70-B9B4-32856A3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76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Reporta al flujo definido y no en canales paralelos.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B3B5D-756D-424A-AFB3-1E59ECD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8DC13-176E-429B-BB04-76C7D76A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227395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0CC28-3BDC-41BA-823A-6D3FB5D9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PRIMER INGRESO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F0650-3A04-4836-BC67-61BCC5FD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El panel principal responde dónde profundizar primero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CD435-6805-4B39-8DD5-A2B89048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50EE2-2E28-48DB-B858-AC4CD2C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355c209234981"/>
          <a:stretch xmlns:a="http://schemas.openxmlformats.org/drawingml/2006/main"/>
        </p:blipFill>
        <p:spPr>
          <a:xfrm xmlns:a="http://schemas.openxmlformats.org/drawingml/2006/main">
            <a:off x="4905375" y="1719300"/>
            <a:ext cx="6667500" cy="3752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921E8-58C0-41B1-BABD-50FF42B1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LECTURA RECOMENDADA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5E701-624C-41C5-BEEC-06A13251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CC64-E80D-420B-83FF-7AD6AB77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Revise las cuatro preguntas estratégicas.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FBC65-1D2B-4A0C-A42B-3B7E865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C9C5F-E6A9-42E5-B519-AF243DBA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Identifique territorios con alertas documentales.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65FB1-43F2-4087-AC1A-8FE8AEE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250FB-ED57-4DE6-9E4F-DD42BB4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No interprete un hallazgo automático como riesgo validado.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A75BC-BD93-4278-8FFC-43556C18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18068-AF98-485E-AA85-0E6A755D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Use el indicador como acceso al módulo que puede resolver la pregunta.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D6C73-3E49-4A45-A2BC-6572E7A1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Consejo: use las burbujas de ayuda solo cuando necesite orientación contextual.</a:t>
            </a:r>
          </a:p>
        </p:txBody>
      </p:sp>
    </p:spTree>
    <p:extLst>
      <p:ext uri="{BB962C8B-B14F-4D97-AF65-F5344CB8AC3E}">
        <p14:creationId xmlns:p14="http://schemas.microsoft.com/office/powerpoint/2010/main" val="641433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DF88C-4D16-4153-9BED-7D59F31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BASE ORGANIZATIVA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D0281-C15C-4FE1-A0E3-09FAFAD1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Territorios y actores definen quién puede responder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0E593-3336-4178-A2A3-C16B990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2E5FE-AD21-4BFF-AEC2-1762840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7F6BC-925D-467B-9C6D-5554061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TERRITORIOS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3AA13-2966-4054-914A-805B098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Concentran plan, menciones, fichas, acciones y alertas por cantón.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01F8E-F2D4-4F00-B325-D85C8A7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ACTORES Y FLUJO COE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1C5D1-8566-492D-A98D-2DA490EF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Muestran cómo pasa la información entre territorio, sala de situación, mesas, plenaria y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B6B57-ED46-4F61-A993-A38A9B3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MESAS Y GRUPOS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AECEB-2DD2-45AC-90A0-8C39D6C6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Definen objetivo, líder, entradas, actividades, productos y destino de cada respuesta técnica.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CF8DF-4370-4C03-AF65-52ADAB01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AC5-366E-42DB-9643-DDD9EBCE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87FFF-DEFE-478E-B3CA-F929AF77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11DBF-7D64-4797-9BF9-C4C96E1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335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Territorio reporta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331D7-DAD3-4EA2-9D9D-5097358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193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Situación, evidencia y necesidad.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E8644-654D-4C4F-86FC-D8E3CFA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F1526-14EB-4588-8B1F-12E2E68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9660C-0D98-4B56-BE80-C709D43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86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Sala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6BC32-E505-473F-8CC3-EE67E95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718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Depura, integra y plantea la pregunta.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D8E18-C414-4CA0-B354-FC3026BE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C1713-75E0-493A-A2FF-85C082F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61B7B-F966-42BC-96A3-C0A9C728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385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Mesa produce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11FC6-9184-44FF-8DD0-959C6B51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243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Asigna responsable, actividad y producto.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85707-BFBC-4E07-9763-CD0B6B7F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D52FD-E13E-4163-A0E8-006E554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D02EC-4322-4844-95B9-FE905251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791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Control verifica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FB501-4144-43F1-8F64-F951921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768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Compara compromiso, plazo y evidencia.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9E3C9-AF67-4851-91FD-5DAEAB7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180848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AFCAA-F6B7-4914-A15C-B9DD97CA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REVISIÓN DE PLANES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A105-A2FB-4B51-97DA-8AFE1FF4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revisión del plan separa documento recibido, calidad y brechas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BA400-F077-45C0-85FC-75991D1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640E6-E80C-4822-8BBD-2FA33F84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3e0d024741e2"/>
          <a:stretch xmlns:a="http://schemas.openxmlformats.org/drawingml/2006/main"/>
        </p:blipFill>
        <p:spPr>
          <a:xfrm xmlns:a="http://schemas.openxmlformats.org/drawingml/2006/main">
            <a:off x="4953000" y="1698481"/>
            <a:ext cx="6572250" cy="36991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96C6-2A28-4206-B99C-C069144A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C3227-12CB-483C-80C7-979956CF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Seleccione la categoría de atención.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BFC83-0B82-425E-8354-E723446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265C7-95E2-48FA-AD81-A3EBB4B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Filtre por provincia, territorio o resultado.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0FBCE-65B5-4F94-A0CC-CA3EE02D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43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758B-B50C-4BA6-B535-5B31CFFB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Abra “Revisar” para ver evidencia por componente.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7233-9466-49F8-829F-ABF965D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609AA-0768-4E93-A92B-27DBC773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Use el checklist como insumo para nuevas acciones, no como calificación definitiva.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ABDED-2634-4B78-8927-0615F74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CA744-6FEF-4C52-A875-4BA3E7A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Valide territorialmente antes de cerrar una brecha.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E50EA-6F99-4194-9F6B-631C142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2055726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A3BDC-CE37-4885-8130-3AC45FBA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SITIOS CRÍTICOS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A3EC-E82A-419F-A2EC-5B971B8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Una mención solo se vuelve ficha cuando permite gestionar el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BC911-388D-4CA6-9AC0-B5F71F3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974BA-E7FF-48FC-ACE5-5506810E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433edb74a48fa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D9CF-4F53-4198-A848-CD7E055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7800"/>
                </a:solidFill>
              </a:defRPr>
            </a:pPr>
            <a:r>
              <a:rPr sz="1425" b="1">
                <a:solidFill>
                  <a:srgbClr val="C77800"/>
                </a:solidFill>
              </a:rPr>
              <a:t>FICHA PENDIENTE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A8FC-5034-4EA3-B678-6512383A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Lugar citado en un plan que todavía necesita ubicación, amenaza, nivel, condición, exposición y medida.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529C3-862C-47CE-98B1-52C6135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8A61"/>
                </a:solidFill>
              </a:defRPr>
            </a:pPr>
            <a:r>
              <a:rPr sz="1425" b="1">
                <a:solidFill>
                  <a:srgbClr val="0D8A61"/>
                </a:solidFill>
              </a:rPr>
              <a:t>FICHA GESTIONABLE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A3737-59E3-461C-939D-AD885B8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Registro territorial con campos mínimos, trazabilidad y capacidad para vincular decisiones y acciones.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BC776-794C-440C-AA04-7571F2B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Regla práctica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4795D-26A5-44D4-B86E-83F61E8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No crear duplicados: buscar, completar y convertir primero.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C758A-506C-46D0-ADD3-52C0E6D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6290798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3D29F-CE13-4368-842E-98A53C0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24FA-D26E-43E1-9B4C-A85DC7F5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bandeja ordena preguntas que requieren una respuesta formal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4BC92-641B-4CBF-BC87-82447BB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77C4-E84D-4D0D-A5BF-94768EC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2df7c750445ff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E34CE-F3BA-4AB9-B2DA-940F4674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2B439-3B6A-4CBC-89A6-3B8BEB21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Trabaje por categoría: validación, mitigación o ejecución.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4D8C7-7BE4-497A-8616-32114A0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FE24B-324E-4FC0-A83A-9071DC3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Priorice urgentes y filtre por estado.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72944-13FF-4EF9-AC59-283EA702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7EA2F-032C-456E-8D34-2D3B335E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Abra “Resolver” y registre responsable, nivel y fecha.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DBF4A-9186-459F-A521-185FE829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FE93B-F85E-4ABC-90F8-75F07C3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Describa la decisión y un compromiso verificable.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79479-DF93-4F68-9F05-55841D3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206A2-771B-4B65-84EE-CC17D936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Para cerrar, adjunte una evidencia o referencia.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33B48-0EFE-4CCC-8547-95E62EA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724605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D61C1-4325-4BB2-8277-F3818801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ACCIONES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798F6-1867-4056-9B04-BE2ECD7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Una acción debe tener responsable, plazo, resultado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75824-EA5E-4097-BEFA-5473B00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1C7A5-7AC3-45FC-A96B-65AF122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7258115a44c3b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944C-76C6-4112-99FB-BE8BA76A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E9F2B-D3FF-4C98-9D8F-CBAEEA6C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FE454-F6F4-4E32-981F-CD05235D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Formalizar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12033-8011-4D46-BD60-836F031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Convertir una ficha en compromiso.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6285-B812-486F-9EA9-BCADA98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9A05F-A31B-422E-BCBB-CD73AE33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BF2E7-8DC0-4DBC-BB55-F9014C6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Ejecutar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7E42E-F53E-4B6C-9E71-A15B47BF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Actualizar estado, avance y brecha.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AF9B7-AF88-4C56-8AA1-8A0C06C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A9CD5-2E9D-4D5E-B9AE-3E541F3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11AC4-B360-490A-AA3C-77115A74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Evidenciar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E0DD4-770F-4221-AB3C-4728D490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Adjuntar producto, referencia o geometría.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0A875-F494-44D6-9935-4EB26B7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A61"/>
          </a:solidFill>
          <a:ln xmlns:a="http://schemas.openxmlformats.org/drawingml/2006/main" w="9525">
            <a:solidFill>
              <a:srgbClr val="0D8A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68337-4C97-41B3-B6C6-0BA18B60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7F570-2F70-496D-9359-4A91B34C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Cerrar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C2AC0-208D-403A-AB86-6A619441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Solo al 100% y con evidencia verificable.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F5D89-AE06-4074-8E8B-C6020EC5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166784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9AD58-0980-4FFD-AD80-2F22BDB8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INFORME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4DB21-5FA9-4C5D-B08A-CAF9406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El informe Word convierte el seguimiento en un respaldo archivable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61200-F5EB-4AE5-995D-26C33C25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A1316-1DE9-42AA-AE11-26CA8C0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DA8FE-47EB-47D1-BFB9-CF669A33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DESCARGA DESDE ACCIONES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AAB7C-C163-468A-9175-4463F35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95EC2-9BFF-4496-8098-1D655D16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Código único, fecha, hora y usuario generador.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FA662-F551-4EEA-AB38-39C16FDF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85638-F993-4ECC-BBFC-AC85E539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Resumen de acciones, vencimientos y avance promedio.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A2A3-2F85-4343-84CB-C225D40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A1820-FCA2-487C-BEFA-7B935F32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Una ficha por acción con sitio, territorio y responsable.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4CA00-2830-4C38-AE46-DF7ACDE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DC54F-9053-40FA-82DB-DEE605E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Objetivo, producto, indicador y criterio de cierre.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73E2C-7AD7-443C-A2E6-67D8F5C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E5E7A-021F-49BD-8656-707FCBA6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Evidencia documental, geográfica y última actualización.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5936D-A0AA-45EA-AECD-21424F4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827CA-6F40-4E0A-B258-0481EE27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Registro automático de la descarga en la auditoría.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C75F0-4EF5-4EFA-80D6-53DCEDA9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953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FA915-C47C-48CA-ACB2-9CBA6FFC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6"/>
                </a:solidFill>
              </a:defRPr>
            </a:pPr>
            <a:r>
              <a:rPr sz="1800" b="1">
                <a:solidFill>
                  <a:srgbClr val="0B1726"/>
                </a:solidFill>
              </a:rPr>
              <a:t>INFORME DE SEGUIMIENTO DE ACCIONES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1048C-3179-46E0-BAC0-44A82B1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SR-ACT-AAAAMMDDHHMMSS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1E4E7-5623-4E39-862E-88C0D01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Resumen ejecutivo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1506A-65CF-42FD-9839-C179BE1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Acciones · Pendientes · Vencidas · Completadas · Avance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68316-4ED4-41EA-801A-E53D24F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Detalle verificable por acción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39C17-8A89-47E9-9038-87ABF07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Responsable · Plazo · Producto · Indicador · Evidencia · Capas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0671E-5458-47DF-B468-526A05C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Uso recomendado: descargar en cada corte de seguimiento, archivar con el acta o informe institucional y volver a generar después de actualizar evidencias.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E6CD0-D4A6-42A5-BC71-00BA446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837046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0338-E6CC-4522-BFD9-2973B544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TALLER CARTOGRÁFICO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1AAEF-6122-4D21-922F-7ED270C8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cartografía sirve cuando responde una pregunta de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6DF03-25DE-4627-92DA-6F189C92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78EC-8365-431A-83E7-13006EF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9cd927d27429a"/>
          <a:stretch xmlns:a="http://schemas.openxmlformats.org/drawingml/2006/main"/>
        </p:blipFill>
        <p:spPr>
          <a:xfrm xmlns:a="http://schemas.openxmlformats.org/drawingml/2006/main">
            <a:off x="5000625" y="1712524"/>
            <a:ext cx="6524625" cy="36710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B5449-D3BD-4077-8F60-ACED044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D5892-A79C-4239-B1EE-3965F5F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Cargue ZIP/SHP, GeoJSON, KML o KMZ.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58BDF-3973-456C-A6E4-824AD12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8042E-23DB-4277-9EE3-56C10D9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O dibuje punto, línea, área o buffer.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07D31-A11F-4978-96FF-C82B96E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067E5-5452-429B-8333-6BEC8B03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Clasifique como amenaza, vulnerabilidad, exposición o capacidad.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2C473-6461-4303-8D38-2B3704B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75AD1-5495-4D25-BC99-88FA3B8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Vincule con sitio, acción o sesión COE.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81F1E-8239-47D1-93D7-D6C971A3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91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94C55-2CBE-4631-89D7-03E52E45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Exporte KMZ o utilice la geometría como evidencia de cierre.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87633-FD13-42F3-9AF2-D1B3046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Para SHP: comprima .shp, .dbf y .prj; se recomienda incluir .shx.</a:t>
            </a:r>
          </a:p>
        </p:txBody>
      </p:sp>
    </p:spTree>
    <p:extLst>
      <p:ext uri="{BB962C8B-B14F-4D97-AF65-F5344CB8AC3E}">
        <p14:creationId xmlns:p14="http://schemas.microsoft.com/office/powerpoint/2010/main" val="1257829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DE1B7-D3C5-459E-944C-3EE2CB16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USO DE F03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41B8-459B-473B-B7CA-C80EC3F1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F03 es una fuente con control técnico, no un destino aislado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043A9-EC75-4B6F-8BD3-F0AEF502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36EB-D762-4A34-A2FD-AD83DC05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2D466-9980-4EFA-880E-D0B4ED22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52822-8CAE-499E-B958-D403318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AD71A-2580-4B05-A4E4-0812FF2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Fuente y custodio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DBB84-AD5C-4F11-AA16-E730096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¿Quién produjo o mantiene el dato?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94952-7C0C-4AB7-A45E-F0E3E4F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1D57B-B72D-40F3-A868-ECD26E87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BBB25-DE9E-4AD8-9AE1-8951DD2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Fecha de corte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EA73-327C-4124-8AFF-67570D6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¿Sigue siendo vigente para la decisión?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B3B6B-BEBD-45AD-87CD-62A6BDBE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ECAE9-D3F4-4376-9361-1C272A63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C54C7-7C62-4098-AF35-ADBD40D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Escala y método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08FC6-CFEF-4128-A392-A205973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¿Permite el nivel de detalle requerido?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1419D-6072-44C0-B6F9-01BA93D4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A12EB-8755-4461-A1A8-7BDC166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DF45C-EBA8-497E-A349-2E0B9C0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956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Geometría y atributos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C6B67-8E04-49DB-9A8C-6728249E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194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¿Se entiende qué representa cada elemento?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661E1-4D51-4C35-993B-FF0896F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96212-61B3-40C4-872B-6AF500F4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480ED-EB0C-42F9-AEFE-5B2446F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Validez territorial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101C5-B921-4323-BD9F-3BE48424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¿Fue confirmada por el técnico competente?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95CD7-AB99-4C29-9483-8DDB0CE0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3387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9C021-28F0-4B6C-99D2-7ED2226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C3ACE-BB4F-4392-989D-C16EE6D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Uso permitido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F15BA-1C51-4402-8B69-381441C7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¿Es concluyente o requiere advertencias?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55CBB-1989-4B4F-900A-6D453E4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Si falta un dato crítico, la plataforma debe mostrar la limitación; no completar con supuestos.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4B3DB-811F-4677-B928-6C1FE68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222118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804B8-D90E-47EF-9F59-1A1571B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CABINA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3BD5A-DE9F-4E7C-87FF-45F4E4CA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Cabina COE conduce un problema hasta productos verificables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0D98-FC23-4A09-B66E-30502CE3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CAD3-F00B-489D-A3F4-ECD5BA99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CFE93-B4D0-47A5-9201-469FA533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9D3E3-C7CE-4E3F-A882-EF62DEE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FD9B3-CF3F-4F00-8CC3-39A04128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Abrir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07963-3E0D-4D74-BD08-25F9030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Problema, territorio, objetivo y evidencia inicial.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BEF9F-5BB4-4E4B-8E82-226494B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B063C-8A29-453E-948F-751D183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9C23E-0559-4030-B1DB-009C42D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Organizar actores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64714-BD93-4285-8D10-2F180E0E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Quién informa, analiza, decide, ejecuta y controla.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CF43-B008-4F0C-AA5D-76766650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9046D-E8C5-4B8E-8D0E-C6827DA0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D50CB-1AEB-493C-90A5-A5E1D942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Asignar tareas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0090E-253A-4D4A-9CE1-E0625FD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Acción, responsable, plazo, producto y destino.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89FB4-E7B5-4063-B05D-0CF74606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1224E-6CA4-4657-A145-23B554C5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98ED1-8226-424A-B716-1DE2B699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Monitorear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8A1F8-5E16-4B7A-BE42-5CBCF8AB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Avance, bloqueo, evidencia geográfica y decisiones.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9FC27-1705-440B-A6F1-F0AF540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FBD6C-5648-4411-AB1C-BF2772A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D2EA4-FAAB-4F3E-94EC-C38A7F30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Cerrar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5E9BA-590D-4E8B-9B44-B991355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Producto entregado, evidencia y lección registrada.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7817A-F870-423D-AAF2-3C94F74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26"/>
                </a:solidFill>
              </a:defRPr>
            </a:pPr>
            <a:r>
              <a:rPr sz="1725" b="1">
                <a:solidFill>
                  <a:srgbClr val="0B1726"/>
                </a:solidFill>
              </a:rPr>
              <a:t>La Cabina no sustituye a las mesas: ordena lo que cada actor debe producir y cuándo debe reportarlo.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8AA3E-ABDB-4B78-887D-F99353E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387849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6E8F2-8EBC-4DD7-981A-5BEEAD9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RECORRIDO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4AD88-242A-45F8-8148-6E3A720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Escenario completo: una inundación reportada se convierte en 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638F0-AD40-43E4-9F20-DFCBB1CA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A2179-75E1-4529-A1FC-4A2542E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EE979-0688-4254-89A0-AFFB5477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1.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47A42-481C-47C1-8652-D73B2F4E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Menciona un tramo y población expuesta.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B6BF2-99C9-4EDF-B057-42FD2FFF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28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5FE66-DA3C-4AFA-87E0-7FFD4E00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2. Ficha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9AACD-AA79-44E4-9C95-AD89B3B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El técnico precisa ubicación, amenaza y medida.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ED26C-5782-4EAC-BED9-169A2A87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B9066-3722-4215-AC65-9A957BF3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3. 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27D51-8D8D-4693-BAA1-9B67E14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Control pregunta qué mitigación y quién responde.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E4D3E-E155-420D-BF81-709A045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908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A16D4-9784-42D1-9D50-5B5B3E1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4. Acción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7C0AE-AF90-455C-97A0-D6927980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asignan obra, responsable, plazo y producto.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F608A-8613-4335-A147-B3CC839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719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E4EE9-A186-4F00-B376-3874F5C2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5. Mapa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8A0E6-271B-4AC9-B0FC-7B7EC6D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dibuja o carga el tramo intervenido.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E2C45-076C-4410-AF2B-E57AADD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52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42DC0-973D-492E-A4DD-2A670B9B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6. Cierre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E1B8CC-1A11-4ECE-86F3-6FBFFF7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verifica cobertura, evidencia y resultado.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14392-FE19-4315-B115-F34A0D9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9FFA0-5F62-4BEF-A503-C2E45C62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Trazabilidad completa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F7653-F199-4404-B3AC-44E0650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4066466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438B5-5990-48DD-8CCF-77EFE9E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RUTINAS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2BD7F-2926-4E7D-924D-2618AD4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Qué debe hacer cada perfil en su 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815FD-0340-4B88-868F-35EE9F09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3472D-7C04-4DBC-9221-F598B7E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1508-5939-4B83-AB86-1517630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Técnico territorial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F5AF6-E110-4D8D-A0EA-E9B744A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fichas pendientes → actualizar sitios → reportar acciones → cargar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0BBF1-9C44-4FFA-A8BB-29DFEBD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D0771-186A-4151-BEA9-31364A16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Revisor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6E559-7079-4671-BDF9-93F7C04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Filtrar planes prioritarios → abrir evidencia → registrar brechas → enviar a validación.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83F70-4239-4A7C-B4F5-A1677D21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A9CA3-CB17-4D5A-BB3D-064F339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Responsable de 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0ED0-A0C5-4C41-90D0-222C8B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compromisos → actualizar avance → reportar bloqueo → adjuntar producto.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955AF-6003-4939-BBD3-4D2D875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22375-A453-4E11-A002-646D81D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Analista SIG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F3649-E04A-489F-9608-A98CC1E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fuente → validar geometría → vincular capa → advertir limitaciones.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8B777-69C2-4CA5-AAD3-588E2B9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29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F8BA1-4FAF-4988-9A7F-5D405C8D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Administrador/control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D535A-5C87-4918-8667-4CD6857D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alertas → priorizar decisiones → escalar retrasos → verificar cierres.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85EC3-AD04-4835-AA35-D429405A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6AC36-581E-4BC0-BD2A-33BE591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COE / mesa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1FB16-DF0E-4F26-9A5A-C4D1987F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Abrir problema → confirmar objetivo → producir respuesta → informar al destino.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8D640-9220-42D0-8D9E-80428FAF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102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8D40E-A3C8-43B0-945F-D0DDB5B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3792478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06CBC-52E9-4F63-A5A4-FD31E28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REGLAS DE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5B5A2-7D40-4008-BC5D-D13A355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Cinco reglas protegen la calidad y la responsabilidad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27E0E-3DE2-48E6-B03E-786640C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11AEA-5F29-4BF1-A01B-C211944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6FC9E-0145-40B9-81BA-7AB91DD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3FCE4-9B77-4793-ACDF-236ABCD6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inventar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2EAF0-4D53-4A5F-B12A-50AF2B2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287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Distinguir dato documental, hallazgo preliminar y validación territorial.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3CBC6-831E-44A6-A104-6C94C1B6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E97C6-D4F7-4559-B110-45DE380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duplicar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97957-FBBF-46F4-B947-B934524A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Buscar el sitio, plan o acción antes de crear un registro nuevo.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8789B-0A50-4479-AD49-49D87E6A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20ECE-1B77-4660-B3B8-E1052F7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Conservar fuente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F5102-2105-44B5-B34F-EDB66B5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575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Registrar plan, página, institución, fecha, escala o referencia.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139DE-12E1-4AF8-A8C3-3969247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DF588-856A-4E59-A543-496152F5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cerrar sin 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2752F-A9EF-4E3C-B437-3E8A6CC8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719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Una respuesta debe producir algo verificable.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89D2B-4371-490B-925E-A61F4BFB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4EA48-DD52-4CF7-B3AC-DD95BB6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Usar el perfil correcto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3A26A-E54E-472E-8571-24D2AE34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863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Cada actor modifica solo lo que le corresponde y queda auditado.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85226-8D11-4BFE-8F36-21E2594D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793006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0F15B-1EA2-415E-9EAF-B307730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SOLUCIÓN DE PROBLEMAS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CAF0B-F157-4313-8445-CC33FE9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Cuando algo no funciona, revise primero el dato y el vínculo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E8DF4-3F1B-434A-BEE0-F47145EB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E14B6-A8EF-4712-8B1F-D9D9162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9103-2CF2-41D5-B01C-6910D965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SITUACIÓN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26448-23DD-45CC-B666-9F6938A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ACCIÓN RECOMENDADA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80E7D-314E-47CC-99B4-04DF2728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E1DBF-E378-4C9C-B222-A873D3C3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No veo un registro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6FF09-FAD7-44D2-A985-50F654D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Revise territorio, perfil, filtros y categoría.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4C0BA-E70A-4C1B-A9F8-4F7F1C7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6222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0C426-35CD-43D0-B545-593D8D6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No puedo cerrar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5A325-F4D0-498A-A78E-EE0BC774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Falta evidencia, producto o un campo obligatorio.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26717-D378-4C41-92CC-E07CACB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8FA39-A759-4F8C-89DD-3870C63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El mapa no muestra la capa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0822C-59F7-4254-A3E1-53A30A18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Revise geometría, archivo, territorio y estado de validación.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1CB88-6FE7-4C35-9208-FEEFE9B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7667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8EC36-CE3D-4E04-AE46-449BC253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El SHP no carga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F97B0-0DB4-4095-8CCE-3835A2ED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Use ZIP con .shp + .dbf + .prj; agregue .shx si existe.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8E20C-ED50-4C7B-9C45-52B945CE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1EA31-02E4-4F37-A2F3-205DF63A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La cifra parece alta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40A31-3A4D-4193-8EE8-6BE0114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Diferencie menciones documentales de fichas gestionables.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DF940-0BBC-4C5E-BE53-B0FC864F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C024F-AF1F-4D9D-9B1C-0B393F0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La decisión no avanza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382F0-170C-4CE0-A379-92D4A371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673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Confirme responsable, nivel de gestión y fecha de compromiso.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A1304-D6A5-4921-B866-115ADE4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5456444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059D1-91F0-4652-851E-E8E42769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 plataforma funciona cuando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cada dato llega a una decisión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y cada decisión llega a evidencia.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F11E6-7B03-46E7-AEF8-A6098A3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Compromiso de los equipos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05C08-CD1D-48EB-B639-F594C11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Actualizar con oportunidad · conservar la fuente · responder según el perfil · cerrar con evidencia.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67B6D-79CF-4D6C-81AD-5BD1F22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477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0577F-857A-4380-BB7B-4EC7D713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38250"/>
            <a:ext cx="152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RIESGO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→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ACCIÓN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→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BF987-972A-4A1C-8FF1-2516887B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Acceso: https://smartrisk-cz5-produccion.web.app</a:t>
            </a:r>
          </a:p>
        </p:txBody>
      </p:sp>
    </p:spTree>
    <p:extLst>
      <p:ext uri="{BB962C8B-B14F-4D97-AF65-F5344CB8AC3E}">
        <p14:creationId xmlns:p14="http://schemas.microsoft.com/office/powerpoint/2010/main" val="1238425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2026-07-19T00:01:51.9790000Z</dcterms:created>
  <dcterms:modified xsi:type="dcterms:W3CDTF">2026-07-19T00:01:51.9790000Z</dcterms:modified>
</coreProperties>
</file>